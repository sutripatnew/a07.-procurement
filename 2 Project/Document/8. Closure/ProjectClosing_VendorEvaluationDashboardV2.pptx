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sldIdLst>
    <p:sldId id="294" r:id="rId5"/>
    <p:sldId id="2145706068" r:id="rId6"/>
    <p:sldId id="2145706069" r:id="rId7"/>
    <p:sldId id="262" r:id="rId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2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tripat Ngamjittrong" userId="9f6df6b8-7c0f-41a5-8df7-af926e508025" providerId="ADAL" clId="{1CD4A0F2-2CA6-44AA-97CB-E3635778741C}"/>
    <pc:docChg chg="custSel modSld">
      <pc:chgData name="Sutripat Ngamjittrong" userId="9f6df6b8-7c0f-41a5-8df7-af926e508025" providerId="ADAL" clId="{1CD4A0F2-2CA6-44AA-97CB-E3635778741C}" dt="2025-08-27T08:12:04.780" v="68" actId="20577"/>
      <pc:docMkLst>
        <pc:docMk/>
      </pc:docMkLst>
      <pc:sldChg chg="modSp mod">
        <pc:chgData name="Sutripat Ngamjittrong" userId="9f6df6b8-7c0f-41a5-8df7-af926e508025" providerId="ADAL" clId="{1CD4A0F2-2CA6-44AA-97CB-E3635778741C}" dt="2025-08-27T08:12:04.780" v="68" actId="20577"/>
        <pc:sldMkLst>
          <pc:docMk/>
          <pc:sldMk cId="1624676079" sldId="2145706068"/>
        </pc:sldMkLst>
        <pc:graphicFrameChg chg="modGraphic">
          <ac:chgData name="Sutripat Ngamjittrong" userId="9f6df6b8-7c0f-41a5-8df7-af926e508025" providerId="ADAL" clId="{1CD4A0F2-2CA6-44AA-97CB-E3635778741C}" dt="2025-08-27T08:12:04.780" v="68" actId="20577"/>
          <ac:graphicFrameMkLst>
            <pc:docMk/>
            <pc:sldMk cId="1624676079" sldId="2145706068"/>
            <ac:graphicFrameMk id="10" creationId="{00000000-0000-0000-0000-000000000000}"/>
          </ac:graphicFrameMkLst>
        </pc:graphicFrameChg>
        <pc:graphicFrameChg chg="mod modGraphic">
          <ac:chgData name="Sutripat Ngamjittrong" userId="9f6df6b8-7c0f-41a5-8df7-af926e508025" providerId="ADAL" clId="{1CD4A0F2-2CA6-44AA-97CB-E3635778741C}" dt="2025-08-27T08:10:36.697" v="65" actId="20577"/>
          <ac:graphicFrameMkLst>
            <pc:docMk/>
            <pc:sldMk cId="1624676079" sldId="2145706068"/>
            <ac:graphicFrameMk id="11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2664F-4929-41E0-B67D-2A59F2FF75E3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E6AE8-CA33-457A-8C9E-D14340AAE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443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8BFC-6957-48AD-94FD-0567BD7B7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96BE7-78D3-425B-9A35-21C2250ED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157DD-2F65-435D-A89D-336961D4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0CE0-D62C-4F94-91F4-2059FCAB2008}" type="datetime1">
              <a:rPr lang="th-TH" smtClean="0"/>
              <a:t>27/08/68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941EE-6933-44C9-A8FA-56AAAD74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B5FF9-C9BE-4E56-92A8-C4306B48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877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3E983E-E9F0-4592-B9E8-603716C12462}"/>
              </a:ext>
            </a:extLst>
          </p:cNvPr>
          <p:cNvSpPr/>
          <p:nvPr userDrawn="1"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2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C3A404-D5DD-4E38-ABD6-49A1B02C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82" y="0"/>
            <a:ext cx="11906757" cy="8096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7FC7F-9906-4884-ABF9-A1DF5841E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0A003-2C02-4F99-A320-B576BE8C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latin typeface="DB Helvethaica X 57 Cond" panose="02000506090000020004" pitchFamily="2" charset="-34"/>
                <a:cs typeface="DB Helvethaica X 57 Cond" panose="02000506090000020004" pitchFamily="2" charset="-34"/>
              </a:defRPr>
            </a:lvl1pPr>
          </a:lstStyle>
          <a:p>
            <a:fld id="{F0070F2B-B73D-4B18-8034-0E020A30EDB4}" type="datetime1">
              <a:rPr lang="th-TH" smtClean="0"/>
              <a:pPr/>
              <a:t>27/08/68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C6262-17F2-4D72-A161-89584AD0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latin typeface="DB Helvethaica X 57 Cond" panose="02000506090000020004" pitchFamily="2" charset="-34"/>
                <a:cs typeface="DB Helvethaica X 57 Cond" panose="02000506090000020004" pitchFamily="2" charset="-34"/>
              </a:defRPr>
            </a:lvl1pPr>
          </a:lstStyle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48290-C6EF-4B38-B9BA-3C83989B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latin typeface="DB Helvethaica X 57 Cond" panose="02000506090000020004" pitchFamily="2" charset="-34"/>
                <a:cs typeface="DB Helvethaica X 57 Cond" panose="02000506090000020004" pitchFamily="2" charset="-34"/>
              </a:defRPr>
            </a:lvl1pPr>
          </a:lstStyle>
          <a:p>
            <a:fld id="{A54B2BAA-CBBA-41A6-A703-EFF0E931A699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7267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0456-DA50-44EC-B6BF-56F0380B9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C75B8-40A4-4889-9C1E-66C5A7B1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5ED93-CE90-4AE3-B5D0-1A6362AC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01E8-C9DE-4891-93E8-6FCE11A85322}" type="datetime1">
              <a:rPr lang="th-TH" smtClean="0"/>
              <a:t>27/08/68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032F8-5176-48EA-A227-EB4BCC76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D4CEA-0E38-4FF5-B251-05ACA501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9018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6E9795-60AF-4A9E-9A64-02ED16238D30}"/>
              </a:ext>
            </a:extLst>
          </p:cNvPr>
          <p:cNvSpPr/>
          <p:nvPr userDrawn="1"/>
        </p:nvSpPr>
        <p:spPr>
          <a:xfrm>
            <a:off x="0" y="1306"/>
            <a:ext cx="12192000" cy="8096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347E2-362A-4432-80ED-23D46EA8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0EFE-4403-4C45-9245-740122F8D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282" y="989012"/>
            <a:ext cx="5877518" cy="5187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C9797-8DBF-437A-AEDC-1432D3799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989012"/>
            <a:ext cx="5876839" cy="5187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071FA-F40E-4937-A650-851F1BFB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5B2B-ABE1-44F6-9CA0-2602098A38BC}" type="datetime1">
              <a:rPr lang="th-TH" smtClean="0"/>
              <a:t>27/08/68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0433C-0520-43A7-BDE5-E7FFED77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A8039-D5AF-432A-895D-32BD62F9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4203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F286-74CB-46C4-A9A5-40A88527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46143-8609-49D3-8537-BECE0907D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2416B-1EE4-4951-8D35-35DF20C3C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E174C-70A0-470C-B2F3-74B291D17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6487F1-D972-4991-B42A-78F99C076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45BCF-E267-4994-ADF7-99F2B8AD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D7F4E-3435-4063-841A-1B755A28E9AC}" type="datetime1">
              <a:rPr lang="th-TH" smtClean="0"/>
              <a:t>27/08/68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832C0-FFE5-49A6-AA1D-64433374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83BB0-93F4-46AE-8115-21B477804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697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E655-2B27-492C-A5CB-C37FF080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4C905-041C-4140-AF96-BC72B5EE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EBCD5-390B-4151-BDF3-F2769A531865}" type="datetime1">
              <a:rPr lang="th-TH" smtClean="0"/>
              <a:t>27/08/68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D1E29-38F9-4027-980E-EA14785E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DF955-59C0-4D3D-9AF9-7CFD6889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4817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08F5F-66C8-4FD6-BB20-03AD2C67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407-5DCD-43A7-B1AB-E3246D48797A}" type="datetime1">
              <a:rPr lang="th-TH" smtClean="0"/>
              <a:t>27/08/68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3594-F76F-4ECD-9B5E-97D0432C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772BE-48D5-4F17-9464-480D78B8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4325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F296-2DAC-40A9-846B-AFB879FD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931DE-A4F6-4188-B09A-B37B5B5F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15146-B13B-451C-910F-7DC873FA9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9621E-B277-4726-A1C2-9727A824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2EE85-2539-4F7F-A57A-04FD7FF63D5F}" type="datetime1">
              <a:rPr lang="th-TH" smtClean="0"/>
              <a:t>27/08/68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7C422-0B4F-41E4-9813-4CC8B9E6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96405-3961-4629-8B78-87DA8E98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873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E221-D9B0-468F-825B-6D785747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3E9B0-BA06-4881-94DC-98AB669E5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54982-D861-403B-A527-F9DCCA3DA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7FA0B-8E3B-4921-817D-588668F0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AC22-FE19-4D8D-910B-E9E3BCF5FE26}" type="datetime1">
              <a:rPr lang="th-TH" smtClean="0"/>
              <a:t>27/08/68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CC2CC-FA3E-4718-98D8-E9DBF991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E45E6-C43D-46E8-904B-B9F1513A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5575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9278-A53C-427B-9E8E-515DFF78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FD15C-067E-477D-B73B-9EB2F8EC4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B2937-7A3E-4308-AFA1-9E4BA9AE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B4EF-FE71-4697-81D5-D49BFD02C28C}" type="datetime1">
              <a:rPr lang="th-TH" smtClean="0"/>
              <a:t>27/08/68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DF51B-3198-4D3D-8CDA-FED34705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FDAD-820A-407B-9CD4-C902AA09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9093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D9EDB-7A7A-45DA-A5C6-6E13DCC5D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99539-047D-4969-A552-01488AD4F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A1DF6-8C30-4798-8EC0-D5CF9CB4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0CC7E-ED1F-41F2-B8E5-D60297B9670F}" type="datetime1">
              <a:rPr lang="th-TH" smtClean="0"/>
              <a:t>27/08/68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04B1B-D09E-4C68-8976-E1DE71D7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Design Machine User Manual</a:t>
            </a:r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AD323-220D-4231-97E7-B4446439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B2BAA-CBBA-41A6-A703-EFF0E931A69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4559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9D554-546C-4AC8-B2A7-B536F81BC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83" y="959081"/>
            <a:ext cx="11906757" cy="5279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3B714-B5BF-4B26-8897-403C66925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282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F51CF0DA-2F35-4481-A3CF-275F1E094CD8}" type="datetime1">
              <a:rPr lang="th-TH" smtClean="0"/>
              <a:t>27/08/68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F5254-B413-482B-9804-056835C8A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6232" y="6356350"/>
            <a:ext cx="591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/>
              <a:t>Design Machine User Manual</a:t>
            </a:r>
            <a:endParaRPr lang="th-T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559F-2F2C-48DE-961A-15500A57B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5839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54B2BAA-CBBA-41A6-A703-EFF0E931A699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26BB4-33DD-4F3A-A420-D45A47BA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82" y="0"/>
            <a:ext cx="11906757" cy="809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69719-8578-6B68-E803-88251C8218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2250" y="6657340"/>
            <a:ext cx="1119187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th-TH" sz="9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Classified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94729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DB Helvethaica X 57 Cond" panose="02000506090000020004" pitchFamily="2" charset="-34"/>
          <a:ea typeface="Tahoma" panose="020B0604030504040204" pitchFamily="34" charset="0"/>
          <a:cs typeface="DB Helvethaica X 57 Cond" panose="02000506090000020004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DB Helvethaica X 57 Cond" panose="02000506090000020004" pitchFamily="2" charset="-34"/>
          <a:ea typeface="Tahoma" panose="020B0604030504040204" pitchFamily="34" charset="0"/>
          <a:cs typeface="DB Helvethaica X 57 Cond" panose="02000506090000020004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B Helvethaica X 57 Cond" panose="02000506090000020004" pitchFamily="2" charset="-34"/>
          <a:ea typeface="Tahoma" panose="020B0604030504040204" pitchFamily="34" charset="0"/>
          <a:cs typeface="DB Helvethaica X 57 Cond" panose="02000506090000020004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B Helvethaica X 57 Cond" panose="02000506090000020004" pitchFamily="2" charset="-34"/>
          <a:ea typeface="Tahoma" panose="020B0604030504040204" pitchFamily="34" charset="0"/>
          <a:cs typeface="DB Helvethaica X 57 Cond" panose="02000506090000020004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B Helvethaica X 57 Cond" panose="02000506090000020004" pitchFamily="2" charset="-34"/>
          <a:ea typeface="Tahoma" panose="020B0604030504040204" pitchFamily="34" charset="0"/>
          <a:cs typeface="DB Helvethaica X 57 Cond" panose="02000506090000020004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B Helvethaica X 57 Cond" panose="02000506090000020004" pitchFamily="2" charset="-34"/>
          <a:ea typeface="Tahoma" panose="020B0604030504040204" pitchFamily="34" charset="0"/>
          <a:cs typeface="DB Helvethaica X 57 Cond" panose="02000506090000020004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DE142-EE68-1EB3-4922-94AE9920E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D07FC-1A68-F631-5D10-E7FFB8C092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6" name="Picture 5" descr="A white cityscape with buildings&#10;&#10;Description automatically generated">
            <a:extLst>
              <a:ext uri="{FF2B5EF4-FFF2-40B4-BE49-F238E27FC236}">
                <a16:creationId xmlns:a16="http://schemas.microsoft.com/office/drawing/2014/main" id="{D644E7C5-483D-65D0-8BC8-7C4051D1D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42B9366-5048-6C89-0CA6-D08962F11769}"/>
              </a:ext>
            </a:extLst>
          </p:cNvPr>
          <p:cNvSpPr txBox="1">
            <a:spLocks/>
          </p:cNvSpPr>
          <p:nvPr/>
        </p:nvSpPr>
        <p:spPr>
          <a:xfrm>
            <a:off x="142621" y="2130432"/>
            <a:ext cx="11906757" cy="2160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77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Calibri" panose="020F0502020204030204" pitchFamily="34" charset="0"/>
              </a:defRPr>
            </a:lvl1pPr>
          </a:lstStyle>
          <a:p>
            <a:r>
              <a:rPr lang="en-US" sz="40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PJ202510 </a:t>
            </a:r>
          </a:p>
          <a:p>
            <a:r>
              <a:rPr lang="en-US" sz="40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Vendor Evaluation Dashboard V2. </a:t>
            </a:r>
            <a:br>
              <a:rPr lang="en-US" sz="40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Project Closure</a:t>
            </a:r>
            <a:endParaRPr lang="en-GB" sz="40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1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20F7-0A7E-412A-8049-FE3E9025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Tahoma" panose="020B0604030504040204" pitchFamily="34" charset="0"/>
                <a:cs typeface="Tahoma" panose="020B0604030504040204" pitchFamily="34" charset="0"/>
              </a:rPr>
              <a:t>PJ202</a:t>
            </a:r>
            <a:r>
              <a:rPr lang="th-TH" sz="2400" b="1" dirty="0">
                <a:latin typeface="Tahoma" panose="020B0604030504040204" pitchFamily="34" charset="0"/>
                <a:cs typeface="Tahoma" panose="020B0604030504040204" pitchFamily="34" charset="0"/>
              </a:rPr>
              <a:t>510</a:t>
            </a:r>
            <a:r>
              <a:rPr lang="en-GB" sz="24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>
                <a:latin typeface="Tahoma" panose="020B0604030504040204" pitchFamily="34" charset="0"/>
                <a:cs typeface="Tahoma" panose="020B0604030504040204" pitchFamily="34" charset="0"/>
              </a:rPr>
              <a:t>Project Name Vendor Evaluation Dashboard V2. - </a:t>
            </a:r>
            <a:r>
              <a:rPr lang="en-GB" sz="2400" dirty="0">
                <a:latin typeface="Tahoma" panose="020B0604030504040204" pitchFamily="34" charset="0"/>
                <a:cs typeface="Tahoma" panose="020B0604030504040204" pitchFamily="34" charset="0"/>
              </a:rPr>
              <a:t>Close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ECBD5-227C-412F-B9ED-A5ACFF30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5" y="5752845"/>
            <a:ext cx="262423" cy="304165"/>
          </a:xfrm>
        </p:spPr>
        <p:txBody>
          <a:bodyPr/>
          <a:lstStyle/>
          <a:p>
            <a:fld id="{A54B2BAA-CBBA-41A6-A703-EFF0E931A699}" type="slidenum">
              <a:rPr lang="th-TH" smtClean="0"/>
              <a:t>2</a:t>
            </a:fld>
            <a:endParaRPr lang="th-TH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55C20F7-0A7E-412A-8049-FE3E9025FB4A}"/>
              </a:ext>
            </a:extLst>
          </p:cNvPr>
          <p:cNvSpPr txBox="1">
            <a:spLocks/>
          </p:cNvSpPr>
          <p:nvPr/>
        </p:nvSpPr>
        <p:spPr>
          <a:xfrm>
            <a:off x="142282" y="658347"/>
            <a:ext cx="11254485" cy="8096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DB Helvethaica X 57 Cond" panose="02000506090000020004" pitchFamily="2" charset="-34"/>
                <a:ea typeface="Tahoma" panose="020B0604030504040204" pitchFamily="34" charset="0"/>
                <a:cs typeface="DB Helvethaica X 57 Cond" panose="02000506090000020004" pitchFamily="2" charset="-34"/>
              </a:defRPr>
            </a:lvl1pPr>
          </a:lstStyle>
          <a:p>
            <a:r>
              <a:rPr lang="en-GB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Pilot go-live date  :</a:t>
            </a:r>
            <a:r>
              <a:rPr lang="th-TH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5/Aug/2025</a:t>
            </a:r>
            <a:r>
              <a:rPr lang="en-GB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GB" sz="11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Full go-live date :</a:t>
            </a:r>
            <a:r>
              <a:rPr lang="th-TH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6</a:t>
            </a:r>
            <a:r>
              <a:rPr lang="en-US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/Aug/2025</a:t>
            </a:r>
            <a:r>
              <a:rPr lang="en-GB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en-GB" sz="11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59562"/>
              </p:ext>
            </p:extLst>
          </p:nvPr>
        </p:nvGraphicFramePr>
        <p:xfrm>
          <a:off x="216362" y="1687871"/>
          <a:ext cx="11780566" cy="152975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chemeClr val="bg1"/>
                  </a:outerShdw>
                </a:effectLst>
                <a:tableStyleId>{9DCAF9ED-07DC-4A11-8D7F-57B35C25682E}</a:tableStyleId>
              </a:tblPr>
              <a:tblGrid>
                <a:gridCol w="55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9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1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94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69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Next</a:t>
                      </a:r>
                      <a:r>
                        <a:rPr lang="en-US" sz="1100" b="1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measuring</a:t>
                      </a:r>
                      <a:endParaRPr lang="en-US" sz="1100" b="1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699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1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ลดเวลาในการใช้เวลาคำนวณผลการประเมินและการจัดทำรายงานแบบ </a:t>
                      </a:r>
                      <a:r>
                        <a:rPr lang="en-US" sz="11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Manual </a:t>
                      </a:r>
                      <a:r>
                        <a:rPr lang="th-TH" sz="11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ที่ใช้เวลาคำนวณผลการประเมินและการจัดทำรายงานประมาณ 1-2 สัปดาห์ เหลือเป็น 3 วัน</a:t>
                      </a:r>
                      <a:endParaRPr lang="en-US" sz="11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</a:t>
                      </a:r>
                      <a:r>
                        <a:rPr lang="th-TH" sz="11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วัน</a:t>
                      </a:r>
                      <a:endParaRPr lang="en-US" sz="11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th-TH" sz="1100" b="0" kern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วัน</a:t>
                      </a:r>
                      <a:endParaRPr lang="en-US" sz="11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99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kern="120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0" kern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C55C20F7-0A7E-412A-8049-FE3E9025FB4A}"/>
              </a:ext>
            </a:extLst>
          </p:cNvPr>
          <p:cNvSpPr txBox="1">
            <a:spLocks/>
          </p:cNvSpPr>
          <p:nvPr/>
        </p:nvSpPr>
        <p:spPr>
          <a:xfrm>
            <a:off x="142282" y="1063159"/>
            <a:ext cx="1598421" cy="809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DB Helvethaica X 57 Cond" panose="02000506090000020004" pitchFamily="2" charset="-34"/>
                <a:ea typeface="Tahoma" panose="020B0604030504040204" pitchFamily="34" charset="0"/>
                <a:cs typeface="DB Helvethaica X 57 Cond" panose="02000506090000020004" pitchFamily="2" charset="-34"/>
              </a:defRPr>
            </a:lvl1pPr>
          </a:lstStyle>
          <a:p>
            <a:r>
              <a:rPr lang="en-GB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Success criteria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477648"/>
              </p:ext>
            </p:extLst>
          </p:nvPr>
        </p:nvGraphicFramePr>
        <p:xfrm>
          <a:off x="216362" y="3805510"/>
          <a:ext cx="11792124" cy="27384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chemeClr val="bg1"/>
                  </a:outerShdw>
                </a:effectLst>
                <a:tableStyleId>{9DCAF9ED-07DC-4A11-8D7F-57B35C25682E}</a:tableStyleId>
              </a:tblPr>
              <a:tblGrid>
                <a:gridCol w="3679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0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69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th-TH" sz="1100" b="1" kern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ข้อดี</a:t>
                      </a:r>
                      <a:endParaRPr lang="en-US" sz="1100" b="1" kern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th-TH" sz="1100" b="1" kern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สิ่งที่ควรปรับปรุง</a:t>
                      </a:r>
                      <a:endParaRPr lang="en-US" sz="1100" b="1" kern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th-TH" sz="1100" b="1" kern="12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สิ่งที่ควรทำ</a:t>
                      </a:r>
                      <a:endParaRPr lang="en-US" sz="1100" b="1" kern="120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9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699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การเขียน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WBS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ละเอียด ทำให้ทีมงานเข้าใจ ขอบเขตงานตรงกัน และวางแผนได้ชัดเจน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มีการติดตาม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 Complete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ของโครงการ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มีการทดสอบการส่งแบบฟอร์ม และการบันทึกใน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share point list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หากบันทึกไม่ครบ ก็ได้มีการปรับแก้ไข ใน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Power automate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เพื่อรองรับ ทำให้ลดระยะเวลา</a:t>
                      </a:r>
                      <a:endParaRPr lang="en-US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มีการเขียน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Test Scenario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ให้เป็นไปตาม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Role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และมีขั้นตอนสำหรับการทดสอบชัดเจน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มีการจัด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Weekly meeting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โดยมี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Stakeholder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เข้าร่วมประชุม กรณีที่มี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Issue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ทำให้ตัดสินใจแก้ปัญหาได้รวดเร็ว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Vendor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มีความเข้าใจใน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Requirement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และควบคุมเวลาในการทำงานแต่ละ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Task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ได้เป็นอย่างดี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th-TH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th-TH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th-TH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ควรเพิ่มการติดตามการประเมินจาก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user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ว่า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user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รายไหนที่ยังไม่ได้ประเมินเข้ามา  ทำให้ลดระยะเวลาในการตรวจเช็ค แบบ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manual</a:t>
                      </a:r>
                      <a:endParaRPr lang="th-TH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ควรหาวิธีการประเมินในกลุ่มที่มีความซับซ้อน เช่น กลุ่ม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RM&amp;PKG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มีการเลือกแบบประเมิน 1 ต่อ 1 หากมีแนวทางในการประเมินที่สะดวกแก่ผู้ประเมินมากขึ้น จะทำให้การประเมินสะดวก และลดระยะเวลาการประเมินในแต่ละครั้ง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สูตรการคำนวณ ของแบบประเมิน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Raw material &amp; Packaging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ในกรณีที่มีการประเมินในหัวข้อเดียวกัน และมี </a:t>
                      </a:r>
                      <a:r>
                        <a:rPr lang="en-US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user </a:t>
                      </a:r>
                      <a:r>
                        <a:rPr lang="th-TH" sz="1100" b="0" kern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ประเมินมากกว่า 1 ราย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th-TH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100" b="0" kern="120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C55C20F7-0A7E-412A-8049-FE3E9025FB4A}"/>
              </a:ext>
            </a:extLst>
          </p:cNvPr>
          <p:cNvSpPr txBox="1">
            <a:spLocks/>
          </p:cNvSpPr>
          <p:nvPr/>
        </p:nvSpPr>
        <p:spPr>
          <a:xfrm>
            <a:off x="142282" y="3168182"/>
            <a:ext cx="1598421" cy="809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DB Helvethaica X 57 Cond" panose="02000506090000020004" pitchFamily="2" charset="-34"/>
                <a:ea typeface="Tahoma" panose="020B0604030504040204" pitchFamily="34" charset="0"/>
                <a:cs typeface="DB Helvethaica X 57 Cond" panose="02000506090000020004" pitchFamily="2" charset="-34"/>
              </a:defRPr>
            </a:lvl1pPr>
          </a:lstStyle>
          <a:p>
            <a:r>
              <a:rPr lang="en-US" sz="1100" b="1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Lesson Learn</a:t>
            </a:r>
            <a:endParaRPr lang="en-GB" sz="1100" b="1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7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010FA7-65B9-48FF-DF55-8D230D80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633A-437A-3381-E16C-DC1F7FAD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ahoma" panose="020B0604030504040204" pitchFamily="34" charset="0"/>
                <a:cs typeface="Tahoma" panose="020B0604030504040204" pitchFamily="34" charset="0"/>
              </a:rPr>
              <a:t>Guideline for Lesson Learn</a:t>
            </a:r>
            <a:endParaRPr lang="en-GB" sz="2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E075F-A0B5-93C2-9AD4-18A90BCA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5" y="5752845"/>
            <a:ext cx="262423" cy="304165"/>
          </a:xfrm>
        </p:spPr>
        <p:txBody>
          <a:bodyPr/>
          <a:lstStyle/>
          <a:p>
            <a:fld id="{A54B2BAA-CBBA-41A6-A703-EFF0E931A699}" type="slidenum">
              <a:rPr lang="th-TH" smtClean="0"/>
              <a:t>3</a:t>
            </a:fld>
            <a:endParaRPr lang="th-T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FFE7B-2966-0B40-2690-07ED49388EA5}"/>
              </a:ext>
            </a:extLst>
          </p:cNvPr>
          <p:cNvSpPr txBox="1"/>
          <p:nvPr/>
        </p:nvSpPr>
        <p:spPr>
          <a:xfrm>
            <a:off x="690927" y="1179276"/>
            <a:ext cx="96830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Requirements definition and management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Scope definition and management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Schedule development and control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 estimating and control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Quality planning and control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 availability, team development, and performance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 management 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Stakeholder management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Risk management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Procurement planning and management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Process improvement information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Product-specific information</a:t>
            </a:r>
          </a:p>
          <a:p>
            <a:pPr marL="514350" indent="-514350">
              <a:buFontTx/>
              <a:buAutoNum type="arabicPeriod"/>
            </a:pPr>
            <a:r>
              <a:rPr lang="en-US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Other</a:t>
            </a:r>
          </a:p>
        </p:txBody>
      </p:sp>
    </p:spTree>
    <p:extLst>
      <p:ext uri="{BB962C8B-B14F-4D97-AF65-F5344CB8AC3E}">
        <p14:creationId xmlns:p14="http://schemas.microsoft.com/office/powerpoint/2010/main" val="3283882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59F2D243-8885-244E-B752-1604795591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04"/>
          <a:stretch/>
        </p:blipFill>
        <p:spPr>
          <a:xfrm>
            <a:off x="0" y="3234690"/>
            <a:ext cx="12192000" cy="362331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BCD916E-C552-65BD-A3A7-075EA36ED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75" b="70612"/>
          <a:stretch/>
        </p:blipFill>
        <p:spPr>
          <a:xfrm>
            <a:off x="0" y="0"/>
            <a:ext cx="2286000" cy="202311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FE5A5C-7CB6-D541-6A3B-A2A77313E4BC}"/>
              </a:ext>
            </a:extLst>
          </p:cNvPr>
          <p:cNvSpPr txBox="1"/>
          <p:nvPr/>
        </p:nvSpPr>
        <p:spPr>
          <a:xfrm>
            <a:off x="4447952" y="3017520"/>
            <a:ext cx="3296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End of document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5402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6E0052D7565449AD4535A4CA99F775" ma:contentTypeVersion="26" ma:contentTypeDescription="Create a new document." ma:contentTypeScope="" ma:versionID="0b9a536694c90470f96487d7c2ced26e">
  <xsd:schema xmlns:xsd="http://www.w3.org/2001/XMLSchema" xmlns:xs="http://www.w3.org/2001/XMLSchema" xmlns:p="http://schemas.microsoft.com/office/2006/metadata/properties" xmlns:ns2="4c5a6310-6210-4c89-9a56-7910d0a1357f" xmlns:ns3="664ea518-e788-4305-8dc0-e27df36735d2" targetNamespace="http://schemas.microsoft.com/office/2006/metadata/properties" ma:root="true" ma:fieldsID="8ac41665eae3e89a6c666b66f67da343" ns2:_="" ns3:_="">
    <xsd:import namespace="4c5a6310-6210-4c89-9a56-7910d0a1357f"/>
    <xsd:import namespace="664ea518-e788-4305-8dc0-e27df3673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TableType" minOccurs="0"/>
                <xsd:element ref="ns2:Stream" minOccurs="0"/>
                <xsd:element ref="ns2:MediaServiceLocation" minOccurs="0"/>
                <xsd:element ref="ns2:Program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5a6310-6210-4c89-9a56-7910d0a135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hidden="true" ma:internalName="MediaServiceAutoTags" ma:readOnly="true">
      <xsd:simpleType>
        <xsd:restriction base="dms:Text"/>
      </xsd:simpleType>
    </xsd:element>
    <xsd:element name="MediaServiceOCR" ma:index="14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hidden="true" ma:internalName="MediaServiceKeyPoints" ma:readOnly="true">
      <xsd:simpleType>
        <xsd:restriction base="dms:Note"/>
      </xsd:simpleType>
    </xsd:element>
    <xsd:element name="TableType" ma:index="19" nillable="true" ma:displayName="TType" ma:format="Dropdown" ma:internalName="TableType">
      <xsd:simpleType>
        <xsd:restriction base="dms:Choice">
          <xsd:enumeration value="Standard"/>
          <xsd:enumeration value="Customize"/>
          <xsd:enumeration value="Index"/>
          <xsd:enumeration value="Other"/>
        </xsd:restriction>
      </xsd:simpleType>
    </xsd:element>
    <xsd:element name="Stream" ma:index="20" nillable="true" ma:displayName="Stream" ma:format="Dropdown" ma:internalName="Stream">
      <xsd:simpleType>
        <xsd:restriction base="dms:Choice">
          <xsd:enumeration value="OTC"/>
          <xsd:enumeration value="FTD"/>
          <xsd:enumeration value="RTR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Program" ma:index="22" nillable="true" ma:displayName="Program" ma:format="Dropdown" ma:internalName="Program">
      <xsd:simpleType>
        <xsd:restriction base="dms:Text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ba532b94-7896-41d5-a280-df5603a316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4ea518-e788-4305-8dc0-e27df36735d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6" nillable="true" ma:displayName="Taxonomy Catch All Column" ma:hidden="true" ma:list="{dc872fba-41a0-41fe-91ac-065cebe64cc6}" ma:internalName="TaxCatchAll" ma:showField="CatchAllData" ma:web="664ea518-e788-4305-8dc0-e27df3673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bleType xmlns="4c5a6310-6210-4c89-9a56-7910d0a1357f" xsi:nil="true"/>
    <Stream xmlns="4c5a6310-6210-4c89-9a56-7910d0a1357f" xsi:nil="true"/>
    <Program xmlns="4c5a6310-6210-4c89-9a56-7910d0a1357f" xsi:nil="true"/>
    <lcf76f155ced4ddcb4097134ff3c332f xmlns="4c5a6310-6210-4c89-9a56-7910d0a1357f">
      <Terms xmlns="http://schemas.microsoft.com/office/infopath/2007/PartnerControls"/>
    </lcf76f155ced4ddcb4097134ff3c332f>
    <TaxCatchAll xmlns="664ea518-e788-4305-8dc0-e27df36735d2" xsi:nil="true"/>
  </documentManagement>
</p:properties>
</file>

<file path=customXml/itemProps1.xml><?xml version="1.0" encoding="utf-8"?>
<ds:datastoreItem xmlns:ds="http://schemas.openxmlformats.org/officeDocument/2006/customXml" ds:itemID="{7B579BEF-CDD6-421F-AD7E-73E1F851B3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6534F4-1EC1-4D40-A830-8F6FC02087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5a6310-6210-4c89-9a56-7910d0a1357f"/>
    <ds:schemaRef ds:uri="664ea518-e788-4305-8dc0-e27df36735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43860-FF09-42BB-9E3E-15F93280862A}">
  <ds:schemaRefs>
    <ds:schemaRef ds:uri="http://schemas.microsoft.com/office/2006/metadata/properties"/>
    <ds:schemaRef ds:uri="http://schemas.microsoft.com/office/infopath/2007/PartnerControls"/>
    <ds:schemaRef ds:uri="4c5a6310-6210-4c89-9a56-7910d0a1357f"/>
    <ds:schemaRef ds:uri="664ea518-e788-4305-8dc0-e27df36735d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2779</TotalTime>
  <Words>375</Words>
  <Application>Microsoft Office PowerPoint</Application>
  <PresentationFormat>Widescreen</PresentationFormat>
  <Paragraphs>47</Paragraphs>
  <Slides>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DB Helvethaica X 57 Cond</vt:lpstr>
      <vt:lpstr>Poppins</vt:lpstr>
      <vt:lpstr>Tahoma</vt:lpstr>
      <vt:lpstr>Office Theme</vt:lpstr>
      <vt:lpstr>PowerPoint Presentation</vt:lpstr>
      <vt:lpstr>PJ202510 Project Name Vendor Evaluation Dashboard V2. - Close Project</vt:lpstr>
      <vt:lpstr>Guideline for Lesson Learn</vt:lpstr>
      <vt:lpstr>PowerPoint Presentation</vt:lpstr>
    </vt:vector>
  </TitlesOfParts>
  <Manager>//InOne Director//</Manager>
  <Company>ThaiNamthip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//Project Name_Project Closing_YYYYMMDD//</dc:title>
  <dc:creator>Hathaiporn Kaewmanee</dc:creator>
  <cp:lastModifiedBy>Sutripat Ngamjittrong</cp:lastModifiedBy>
  <cp:revision>235</cp:revision>
  <dcterms:created xsi:type="dcterms:W3CDTF">2021-07-09T08:46:49Z</dcterms:created>
  <dcterms:modified xsi:type="dcterms:W3CDTF">2025-08-27T08:34:54Z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TIntVersion">
    <vt:i4>17</vt:i4>
  </property>
  <property fmtid="{D5CDD505-2E9C-101B-9397-08002B2CF9AE}" pid="3" name="FILEGUID">
    <vt:lpwstr>78b40892-00d4-4809-a244-e1ab613faab2</vt:lpwstr>
  </property>
  <property fmtid="{D5CDD505-2E9C-101B-9397-08002B2CF9AE}" pid="4" name="MODFILEGUID">
    <vt:lpwstr>1b67c449-02c0-48d6-a763-f1b045fb69fd</vt:lpwstr>
  </property>
  <property fmtid="{D5CDD505-2E9C-101B-9397-08002B2CF9AE}" pid="5" name="FILEOWNER">
    <vt:lpwstr>Ubonrat.Ch</vt:lpwstr>
  </property>
  <property fmtid="{D5CDD505-2E9C-101B-9397-08002B2CF9AE}" pid="6" name="MODFILEOWNER">
    <vt:lpwstr>Hathaiporn.Ka</vt:lpwstr>
  </property>
  <property fmtid="{D5CDD505-2E9C-101B-9397-08002B2CF9AE}" pid="7" name="IPPCLASS">
    <vt:i4>3</vt:i4>
  </property>
  <property fmtid="{D5CDD505-2E9C-101B-9397-08002B2CF9AE}" pid="8" name="MODIPPCLASS">
    <vt:i4>3</vt:i4>
  </property>
  <property fmtid="{D5CDD505-2E9C-101B-9397-08002B2CF9AE}" pid="9" name="MACHINEID">
    <vt:lpwstr>TNWHQO732</vt:lpwstr>
  </property>
  <property fmtid="{D5CDD505-2E9C-101B-9397-08002B2CF9AE}" pid="10" name="MODMACHINEID">
    <vt:lpwstr>TNWHQO0683</vt:lpwstr>
  </property>
  <property fmtid="{D5CDD505-2E9C-101B-9397-08002B2CF9AE}" pid="11" name="DOCCOMMENTS">
    <vt:lpwstr/>
  </property>
  <property fmtid="{D5CDD505-2E9C-101B-9397-08002B2CF9AE}" pid="12" name="TNT_AUTHOR">
    <vt:lpwstr>Hathaiporn Kaewmanee</vt:lpwstr>
  </property>
  <property fmtid="{D5CDD505-2E9C-101B-9397-08002B2CF9AE}" pid="13" name="TNT_DEPARTMENT">
    <vt:lpwstr>//InOne Director//</vt:lpwstr>
  </property>
  <property fmtid="{D5CDD505-2E9C-101B-9397-08002B2CF9AE}" pid="14" name="TNT_COMPANY">
    <vt:lpwstr>ThaiNamthip Limited</vt:lpwstr>
  </property>
  <property fmtid="{D5CDD505-2E9C-101B-9397-08002B2CF9AE}" pid="15" name="TNT_SHOWTYPE">
    <vt:i4>1</vt:i4>
  </property>
  <property fmtid="{D5CDD505-2E9C-101B-9397-08002B2CF9AE}" pid="16" name="CURRENTCLASS">
    <vt:lpwstr>Classified - Internal use</vt:lpwstr>
  </property>
  <property fmtid="{D5CDD505-2E9C-101B-9397-08002B2CF9AE}" pid="17" name="ContentTypeId">
    <vt:lpwstr>0x0101002E6E0052D7565449AD4535A4CA99F775</vt:lpwstr>
  </property>
  <property fmtid="{D5CDD505-2E9C-101B-9397-08002B2CF9AE}" pid="18" name="MSIP_Label_e3e5379f-c752-40b7-8c8a-de32cef4862d_Enabled">
    <vt:lpwstr>true</vt:lpwstr>
  </property>
  <property fmtid="{D5CDD505-2E9C-101B-9397-08002B2CF9AE}" pid="19" name="MSIP_Label_e3e5379f-c752-40b7-8c8a-de32cef4862d_SetDate">
    <vt:lpwstr>2025-02-05T09:39:11Z</vt:lpwstr>
  </property>
  <property fmtid="{D5CDD505-2E9C-101B-9397-08002B2CF9AE}" pid="20" name="MSIP_Label_e3e5379f-c752-40b7-8c8a-de32cef4862d_Method">
    <vt:lpwstr>Privileged</vt:lpwstr>
  </property>
  <property fmtid="{D5CDD505-2E9C-101B-9397-08002B2CF9AE}" pid="21" name="MSIP_Label_e3e5379f-c752-40b7-8c8a-de32cef4862d_Name">
    <vt:lpwstr>Internal Use (ภายในบริษัท)</vt:lpwstr>
  </property>
  <property fmtid="{D5CDD505-2E9C-101B-9397-08002B2CF9AE}" pid="22" name="MSIP_Label_e3e5379f-c752-40b7-8c8a-de32cef4862d_SiteId">
    <vt:lpwstr>50243939-22a9-47e3-918e-86b746997bec</vt:lpwstr>
  </property>
  <property fmtid="{D5CDD505-2E9C-101B-9397-08002B2CF9AE}" pid="23" name="MSIP_Label_e3e5379f-c752-40b7-8c8a-de32cef4862d_ActionId">
    <vt:lpwstr>5b9a7b21-bf95-488c-81c3-c6650cf9f665</vt:lpwstr>
  </property>
  <property fmtid="{D5CDD505-2E9C-101B-9397-08002B2CF9AE}" pid="24" name="MSIP_Label_e3e5379f-c752-40b7-8c8a-de32cef4862d_ContentBits">
    <vt:lpwstr>2</vt:lpwstr>
  </property>
  <property fmtid="{D5CDD505-2E9C-101B-9397-08002B2CF9AE}" pid="25" name="ClassificationContentMarkingFooterLocations">
    <vt:lpwstr>Office Theme:8</vt:lpwstr>
  </property>
  <property fmtid="{D5CDD505-2E9C-101B-9397-08002B2CF9AE}" pid="26" name="ClassificationContentMarkingFooterText">
    <vt:lpwstr>Classified - Internal Use</vt:lpwstr>
  </property>
</Properties>
</file>