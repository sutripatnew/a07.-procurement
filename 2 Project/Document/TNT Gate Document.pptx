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301" r:id="rId5"/>
    <p:sldId id="298" r:id="rId6"/>
    <p:sldId id="299" r:id="rId7"/>
    <p:sldId id="30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3792" autoAdjust="0"/>
  </p:normalViewPr>
  <p:slideViewPr>
    <p:cSldViewPr snapToGrid="0">
      <p:cViewPr varScale="1">
        <p:scale>
          <a:sx n="66" d="100"/>
          <a:sy n="66" d="100"/>
        </p:scale>
        <p:origin x="7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tripat Ngamjittrong" userId="9f6df6b8-7c0f-41a5-8df7-af926e508025" providerId="ADAL" clId="{AC4B9963-F53E-415C-A07D-321560D776F5}"/>
    <pc:docChg chg="undo custSel modSld">
      <pc:chgData name="Sutripat Ngamjittrong" userId="9f6df6b8-7c0f-41a5-8df7-af926e508025" providerId="ADAL" clId="{AC4B9963-F53E-415C-A07D-321560D776F5}" dt="2025-04-30T06:06:21.358" v="100" actId="20577"/>
      <pc:docMkLst>
        <pc:docMk/>
      </pc:docMkLst>
      <pc:sldChg chg="modSp mod">
        <pc:chgData name="Sutripat Ngamjittrong" userId="9f6df6b8-7c0f-41a5-8df7-af926e508025" providerId="ADAL" clId="{AC4B9963-F53E-415C-A07D-321560D776F5}" dt="2025-04-30T06:06:21.358" v="100" actId="20577"/>
        <pc:sldMkLst>
          <pc:docMk/>
          <pc:sldMk cId="2755296069" sldId="298"/>
        </pc:sldMkLst>
        <pc:graphicFrameChg chg="mod modGraphic">
          <ac:chgData name="Sutripat Ngamjittrong" userId="9f6df6b8-7c0f-41a5-8df7-af926e508025" providerId="ADAL" clId="{AC4B9963-F53E-415C-A07D-321560D776F5}" dt="2025-04-29T09:25:52.996" v="95" actId="113"/>
          <ac:graphicFrameMkLst>
            <pc:docMk/>
            <pc:sldMk cId="2755296069" sldId="298"/>
            <ac:graphicFrameMk id="5" creationId="{DCF1738B-8E08-D79B-E540-966C06C0EECC}"/>
          </ac:graphicFrameMkLst>
        </pc:graphicFrameChg>
        <pc:graphicFrameChg chg="modGraphic">
          <ac:chgData name="Sutripat Ngamjittrong" userId="9f6df6b8-7c0f-41a5-8df7-af926e508025" providerId="ADAL" clId="{AC4B9963-F53E-415C-A07D-321560D776F5}" dt="2025-04-30T06:06:21.358" v="100" actId="20577"/>
          <ac:graphicFrameMkLst>
            <pc:docMk/>
            <pc:sldMk cId="2755296069" sldId="298"/>
            <ac:graphicFrameMk id="6" creationId="{1A0C0524-F9FB-C0BA-E816-0708C601740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835C12-8653-29E9-B2EC-FB8400E8A4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FB139-E3E3-70B3-026E-5FFB8D36A4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5A151-3B43-4B1C-B3C3-B1C23902C4DE}" type="datetimeFigureOut">
              <a:rPr lang="th-TH" smtClean="0"/>
              <a:t>30/04/68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4D99B-41AF-E4CC-658F-3F50681F92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9EBA7-890E-D55F-86F9-0994CBF918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C1ADD-F262-4941-97E8-DA8C27CEC81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35422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76D3A-567E-4B27-8AD4-F1B1D2B17FB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2C7A6-ED4B-47D2-B682-8BEC29E5E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14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85705AED-4A30-4024-8674-0C6BAADCC54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85705AED-4A30-4024-8674-0C6BAADCC5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22545688-D677-4141-B848-CC5C75679D3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381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b="1" dirty="0">
              <a:solidFill>
                <a:prstClr val="white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1312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1160E32E-4CFD-4F25-AA1E-309827BCF9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1160E32E-4CFD-4F25-AA1E-309827BCF9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5F3AE765-836E-4D98-ADF5-8C3F7F4A895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381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b="1" dirty="0">
              <a:solidFill>
                <a:prstClr val="white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989305"/>
            <a:ext cx="11074400" cy="5292452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5475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0A89D2B-B06E-4CB5-8EBE-9460407049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0A89D2B-B06E-4CB5-8EBE-9460407049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AA8DDA2B-9EEF-4CC0-B9C7-2A2A85AC706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381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b="1" dirty="0">
              <a:solidFill>
                <a:prstClr val="white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2800" b="1" cap="all"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480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FA40DDEB-FD73-4295-968E-74B6356AB5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FA40DDEB-FD73-4295-968E-74B6356AB5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F8F0901A-EF8C-4F79-97DB-359CE84889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381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b="1" dirty="0">
              <a:solidFill>
                <a:prstClr val="white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66807"/>
            <a:ext cx="5384800" cy="5059363"/>
          </a:xfrm>
        </p:spPr>
        <p:txBody>
          <a:bodyPr>
            <a:normAutofit/>
          </a:bodyPr>
          <a:lstStyle>
            <a:lvl1pPr>
              <a:defRPr sz="1800"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7"/>
            <a:ext cx="5384800" cy="5059363"/>
          </a:xfrm>
        </p:spPr>
        <p:txBody>
          <a:bodyPr>
            <a:normAutofit/>
          </a:bodyPr>
          <a:lstStyle>
            <a:lvl1pPr>
              <a:defRPr sz="1800"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  <a:sym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68809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11" Type="http://schemas.openxmlformats.org/officeDocument/2006/relationships/image" Target="../media/image3.jpg"/><Relationship Id="rId5" Type="http://schemas.openxmlformats.org/officeDocument/2006/relationships/theme" Target="../theme/theme1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8B377BB8-BBA6-4C1D-ADE1-A732A6C091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3" progId="TCLayout.ActiveDocument.1">
                  <p:embed/>
                </p:oleObj>
              </mc:Choice>
              <mc:Fallback>
                <p:oleObj name="think-cell Slide" r:id="rId8" imgW="473" imgH="473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8B377BB8-BBA6-4C1D-ADE1-A732A6C091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DFDFA74B-82E0-465B-A74B-40F35A9C2ADC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 w="381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b="1" dirty="0">
              <a:solidFill>
                <a:prstClr val="white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518" y="-3477"/>
            <a:ext cx="9443048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968039"/>
            <a:ext cx="11074400" cy="5292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60231"/>
            <a:ext cx="12192000" cy="6485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A4F8BF-C113-C2D9-3A40-4883182BD25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9428" y="6457493"/>
            <a:ext cx="1649267" cy="292993"/>
          </a:xfrm>
          <a:prstGeom prst="rect">
            <a:avLst/>
          </a:prstGeom>
        </p:spPr>
      </p:pic>
      <p:sp>
        <p:nvSpPr>
          <p:cNvPr id="19" name="Slide Number Placeholder 10">
            <a:extLst>
              <a:ext uri="{FF2B5EF4-FFF2-40B4-BE49-F238E27FC236}">
                <a16:creationId xmlns:a16="http://schemas.microsoft.com/office/drawing/2014/main" id="{4AAFD54F-0247-6885-A2BA-B58E3DE117B2}"/>
              </a:ext>
            </a:extLst>
          </p:cNvPr>
          <p:cNvSpPr txBox="1">
            <a:spLocks/>
          </p:cNvSpPr>
          <p:nvPr userDrawn="1"/>
        </p:nvSpPr>
        <p:spPr>
          <a:xfrm>
            <a:off x="10323857" y="6733856"/>
            <a:ext cx="1877791" cy="141683"/>
          </a:xfrm>
          <a:custGeom>
            <a:avLst/>
            <a:gdLst>
              <a:gd name="connsiteX0" fmla="*/ 0 w 1645920"/>
              <a:gd name="connsiteY0" fmla="*/ 0 h 129100"/>
              <a:gd name="connsiteX1" fmla="*/ 1645920 w 1645920"/>
              <a:gd name="connsiteY1" fmla="*/ 0 h 129100"/>
              <a:gd name="connsiteX2" fmla="*/ 1645920 w 1645920"/>
              <a:gd name="connsiteY2" fmla="*/ 129100 h 129100"/>
              <a:gd name="connsiteX3" fmla="*/ 0 w 1645920"/>
              <a:gd name="connsiteY3" fmla="*/ 129100 h 129100"/>
              <a:gd name="connsiteX4" fmla="*/ 0 w 1645920"/>
              <a:gd name="connsiteY4" fmla="*/ 0 h 129100"/>
              <a:gd name="connsiteX0" fmla="*/ 167779 w 1813699"/>
              <a:gd name="connsiteY0" fmla="*/ 0 h 141683"/>
              <a:gd name="connsiteX1" fmla="*/ 1813699 w 1813699"/>
              <a:gd name="connsiteY1" fmla="*/ 0 h 141683"/>
              <a:gd name="connsiteX2" fmla="*/ 1813699 w 1813699"/>
              <a:gd name="connsiteY2" fmla="*/ 129100 h 141683"/>
              <a:gd name="connsiteX3" fmla="*/ 0 w 1813699"/>
              <a:gd name="connsiteY3" fmla="*/ 141683 h 141683"/>
              <a:gd name="connsiteX4" fmla="*/ 167779 w 1813699"/>
              <a:gd name="connsiteY4" fmla="*/ 0 h 141683"/>
              <a:gd name="connsiteX0" fmla="*/ 268447 w 1914367"/>
              <a:gd name="connsiteY0" fmla="*/ 0 h 141683"/>
              <a:gd name="connsiteX1" fmla="*/ 1914367 w 1914367"/>
              <a:gd name="connsiteY1" fmla="*/ 0 h 141683"/>
              <a:gd name="connsiteX2" fmla="*/ 1914367 w 1914367"/>
              <a:gd name="connsiteY2" fmla="*/ 129100 h 141683"/>
              <a:gd name="connsiteX3" fmla="*/ 0 w 1914367"/>
              <a:gd name="connsiteY3" fmla="*/ 141683 h 141683"/>
              <a:gd name="connsiteX4" fmla="*/ 268447 w 1914367"/>
              <a:gd name="connsiteY4" fmla="*/ 0 h 141683"/>
              <a:gd name="connsiteX0" fmla="*/ 231871 w 1877791"/>
              <a:gd name="connsiteY0" fmla="*/ 0 h 141683"/>
              <a:gd name="connsiteX1" fmla="*/ 1877791 w 1877791"/>
              <a:gd name="connsiteY1" fmla="*/ 0 h 141683"/>
              <a:gd name="connsiteX2" fmla="*/ 1877791 w 1877791"/>
              <a:gd name="connsiteY2" fmla="*/ 129100 h 141683"/>
              <a:gd name="connsiteX3" fmla="*/ 0 w 1877791"/>
              <a:gd name="connsiteY3" fmla="*/ 141683 h 141683"/>
              <a:gd name="connsiteX4" fmla="*/ 231871 w 1877791"/>
              <a:gd name="connsiteY4" fmla="*/ 0 h 141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7791" h="141683">
                <a:moveTo>
                  <a:pt x="231871" y="0"/>
                </a:moveTo>
                <a:lnTo>
                  <a:pt x="1877791" y="0"/>
                </a:lnTo>
                <a:lnTo>
                  <a:pt x="1877791" y="129100"/>
                </a:lnTo>
                <a:lnTo>
                  <a:pt x="0" y="141683"/>
                </a:lnTo>
                <a:lnTo>
                  <a:pt x="231871" y="0"/>
                </a:lnTo>
                <a:close/>
              </a:path>
            </a:pathLst>
          </a:custGeom>
          <a:solidFill>
            <a:srgbClr val="00A3B4"/>
          </a:solidFill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10C341-8C3A-62C5-336C-F52AD87AEC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2250" y="6657340"/>
            <a:ext cx="1119187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th-TH" sz="900">
                <a:solidFill>
                  <a:srgbClr val="000000"/>
                </a:solidFill>
                <a:latin typeface="Calibri" panose="020F0502020204030204" pitchFamily="34" charset="0"/>
              </a:rPr>
              <a:t>Classified - Internal Use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B6560406-8C2F-49B1-8B25-EB58234C73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78614" b="73304"/>
          <a:stretch/>
        </p:blipFill>
        <p:spPr>
          <a:xfrm>
            <a:off x="0" y="1"/>
            <a:ext cx="852428" cy="76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58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dt="0"/>
  <p:txStyles>
    <p:titleStyle>
      <a:lvl1pPr algn="l" defTabSz="914377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Poppins" panose="00000500000000000000" pitchFamily="2" charset="0"/>
          <a:ea typeface="+mj-ea"/>
          <a:cs typeface="Poppins" panose="00000500000000000000" pitchFamily="2" charset="0"/>
          <a:sym typeface="Calibri" panose="020F0502020204030204" pitchFamily="34" charset="0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  <a:sym typeface="Calibri" panose="020F0502020204030204" pitchFamily="34" charset="0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  <a:sym typeface="Calibri" panose="020F0502020204030204" pitchFamily="34" charset="0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  <a:sym typeface="Calibri" panose="020F0502020204030204" pitchFamily="34" charset="0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  <a:sym typeface="Calibri" panose="020F0502020204030204" pitchFamily="34" charset="0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  <a:sym typeface="Calibri" panose="020F0502020204030204" pitchFamily="34" charset="0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377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BA7FA-7139-FCBD-0D6F-39795662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8523-8205-797F-3C40-0D41D637F2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B104E-8E61-383E-89B9-C821A2FE03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6" name="Picture 5" descr="A white cityscape with buildings&#10;&#10;Description automatically generated">
            <a:extLst>
              <a:ext uri="{FF2B5EF4-FFF2-40B4-BE49-F238E27FC236}">
                <a16:creationId xmlns:a16="http://schemas.microsoft.com/office/drawing/2014/main" id="{4326BAD9-8DCD-3085-6FFB-6AD90B3A3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8DB2E5-FA5B-3A22-D1A6-A0A7A2FD7F9B}"/>
              </a:ext>
            </a:extLst>
          </p:cNvPr>
          <p:cNvSpPr txBox="1"/>
          <p:nvPr/>
        </p:nvSpPr>
        <p:spPr bwMode="auto">
          <a:xfrm>
            <a:off x="2315765" y="2890391"/>
            <a:ext cx="7560469" cy="107721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latin typeface="Poppins" panose="00000500000000000000" pitchFamily="2" charset="0"/>
              </a:rPr>
              <a:t>Vendor Evaluation Dashboard V2.</a:t>
            </a:r>
            <a:endParaRPr lang="en-US" sz="3200" b="1" i="0" u="none" strike="noStrike" baseline="0" dirty="0">
              <a:latin typeface="Poppins" panose="00000500000000000000" pitchFamily="2" charset="0"/>
            </a:endParaRPr>
          </a:p>
          <a:p>
            <a:pPr algn="ctr"/>
            <a:r>
              <a:rPr lang="en-US" sz="3200" b="1" i="0" u="none" strike="noStrike" baseline="0" dirty="0">
                <a:latin typeface="Poppins" panose="00000500000000000000" pitchFamily="2" charset="0"/>
              </a:rPr>
              <a:t>TNT Gate </a:t>
            </a:r>
            <a:r>
              <a:rPr lang="en-US" sz="3200" b="1" dirty="0">
                <a:latin typeface="Poppins" panose="00000500000000000000" pitchFamily="2" charset="0"/>
              </a:rPr>
              <a:t>Document</a:t>
            </a:r>
            <a:endParaRPr lang="en-US" sz="3200" b="1" i="0" u="none" strike="noStrike" baseline="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019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65F8C-774A-54E0-A39C-84CDD04C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116951-DFDC-BA72-D921-738F7C133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-3477"/>
            <a:ext cx="11033760" cy="822960"/>
          </a:xfrm>
        </p:spPr>
        <p:txBody>
          <a:bodyPr/>
          <a:lstStyle/>
          <a:p>
            <a:r>
              <a:rPr lang="en-US" sz="2400" b="1" i="0" u="none" strike="noStrike" baseline="0" dirty="0">
                <a:solidFill>
                  <a:srgbClr val="FF0000"/>
                </a:solidFill>
                <a:latin typeface="Poppins" panose="00000500000000000000" pitchFamily="2" charset="0"/>
              </a:rPr>
              <a:t>2025 Project Approval – Gate 0 / Gate 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F1738B-8E08-D79B-E540-966C06C0E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203672"/>
              </p:ext>
            </p:extLst>
          </p:nvPr>
        </p:nvGraphicFramePr>
        <p:xfrm>
          <a:off x="102839" y="819483"/>
          <a:ext cx="11986323" cy="1964266"/>
        </p:xfrm>
        <a:graphic>
          <a:graphicData uri="http://schemas.openxmlformats.org/drawingml/2006/table">
            <a:tbl>
              <a:tblPr firstRow="1" bandRow="1"/>
              <a:tblGrid>
                <a:gridCol w="1977313">
                  <a:extLst>
                    <a:ext uri="{9D8B030D-6E8A-4147-A177-3AD203B41FA5}">
                      <a16:colId xmlns:a16="http://schemas.microsoft.com/office/drawing/2014/main" val="649772408"/>
                    </a:ext>
                  </a:extLst>
                </a:gridCol>
                <a:gridCol w="4041248">
                  <a:extLst>
                    <a:ext uri="{9D8B030D-6E8A-4147-A177-3AD203B41FA5}">
                      <a16:colId xmlns:a16="http://schemas.microsoft.com/office/drawing/2014/main" val="2454388686"/>
                    </a:ext>
                  </a:extLst>
                </a:gridCol>
                <a:gridCol w="1869661">
                  <a:extLst>
                    <a:ext uri="{9D8B030D-6E8A-4147-A177-3AD203B41FA5}">
                      <a16:colId xmlns:a16="http://schemas.microsoft.com/office/drawing/2014/main" val="2411679958"/>
                    </a:ext>
                  </a:extLst>
                </a:gridCol>
                <a:gridCol w="4098101">
                  <a:extLst>
                    <a:ext uri="{9D8B030D-6E8A-4147-A177-3AD203B41FA5}">
                      <a16:colId xmlns:a16="http://schemas.microsoft.com/office/drawing/2014/main" val="3816914787"/>
                    </a:ext>
                  </a:extLst>
                </a:gridCol>
              </a:tblGrid>
              <a:tr h="982133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algn="l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Tahoma" panose="020B0604030504040204" pitchFamily="34" charset="0"/>
                          <a:cs typeface="Poppins" panose="00000500000000000000" pitchFamily="2" charset="0"/>
                        </a:rPr>
                        <a:t>Project Name</a:t>
                      </a:r>
                    </a:p>
                    <a:p>
                      <a:pPr algn="l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Tahoma" panose="020B0604030504040204" pitchFamily="34" charset="0"/>
                          <a:cs typeface="Poppins" panose="00000500000000000000" pitchFamily="2" charset="0"/>
                        </a:rPr>
                        <a:t>(</a:t>
                      </a:r>
                      <a:r>
                        <a:rPr lang="th-TH" sz="9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ชื่อโครงการ</a:t>
                      </a: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Tahoma" panose="020B0604030504040204" pitchFamily="34" charset="0"/>
                          <a:cs typeface="Poppins" panose="00000500000000000000" pitchFamily="2" charset="0"/>
                        </a:rPr>
                        <a:t>)</a:t>
                      </a:r>
                    </a:p>
                    <a:p>
                      <a:endParaRPr lang="en-US" sz="9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Microsoft YaHei"/>
                          <a:cs typeface="Poppins" panose="00000500000000000000" pitchFamily="2" charset="0"/>
                        </a:rPr>
                        <a:t>Vendor Evaluation Dashboard V2.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ea typeface="Tahoma" panose="020B0604030504040204" pitchFamily="34" charset="0"/>
                          <a:cs typeface="Poppins" panose="00000500000000000000" pitchFamily="2" charset="0"/>
                        </a:rPr>
                        <a:t>Project Owner</a:t>
                      </a:r>
                    </a:p>
                    <a:p>
                      <a:r>
                        <a:rPr lang="en-US" sz="900" b="0" dirty="0">
                          <a:latin typeface="Poppins" panose="00000500000000000000" pitchFamily="2" charset="0"/>
                          <a:ea typeface="Tahoma" panose="020B0604030504040204" pitchFamily="34" charset="0"/>
                          <a:cs typeface="Poppins" panose="00000500000000000000" pitchFamily="2" charset="0"/>
                        </a:rPr>
                        <a:t>(</a:t>
                      </a:r>
                      <a:r>
                        <a:rPr lang="th-TH" sz="900" b="0" dirty="0">
                          <a:latin typeface="Poppins" panose="00000500000000000000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เจ้าของโครงการ</a:t>
                      </a:r>
                      <a:r>
                        <a:rPr lang="en-US" sz="900" b="0" dirty="0">
                          <a:latin typeface="Poppins" panose="00000500000000000000" pitchFamily="2" charset="0"/>
                          <a:ea typeface="Tahoma" panose="020B0604030504040204" pitchFamily="34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1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Project Sponsor: </a:t>
                      </a:r>
                      <a:r>
                        <a:rPr lang="en-US" sz="900" b="0" kern="120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Piyachayut</a:t>
                      </a:r>
                      <a:r>
                        <a:rPr lang="en-US" sz="9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900" b="0" kern="120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Ajchariyapotha</a:t>
                      </a:r>
                      <a:r>
                        <a:rPr lang="en-US" sz="9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 VP – Procurement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      </a:t>
                      </a:r>
                      <a:r>
                        <a:rPr lang="en-US" sz="900" b="0" kern="120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Anote</a:t>
                      </a:r>
                      <a:r>
                        <a:rPr lang="en-US" sz="9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900" b="0" kern="120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Sangkunakupt</a:t>
                      </a:r>
                      <a:r>
                        <a:rPr lang="en-US" sz="9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 VP.- Digital &amp; Information Technology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1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PM Business owner: </a:t>
                      </a:r>
                      <a:r>
                        <a:rPr lang="en-US" sz="9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Aunchala Kengkarunkij Gr. Procurement Mgr. - Process Com. Tran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1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PM Digital &amp; IT: </a:t>
                      </a:r>
                      <a:r>
                        <a:rPr lang="en-US" sz="900" b="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" panose="00000500000000000000" pitchFamily="2" charset="0"/>
                          <a:ea typeface="微软雅黑" panose="020B0503020204020204" pitchFamily="34" charset="-122"/>
                          <a:cs typeface="Poppins" panose="00000500000000000000" pitchFamily="2" charset="0"/>
                        </a:rPr>
                        <a:t>Sutripat Ngamjittrong Business Solution Expert - Business Intelligent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16488"/>
                  </a:ext>
                </a:extLst>
              </a:tr>
              <a:tr h="982133">
                <a:tc>
                  <a:txBody>
                    <a:bodyPr/>
                    <a:lstStyle/>
                    <a:p>
                      <a:r>
                        <a:rPr lang="en-US" sz="9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Poppins" panose="00000500000000000000" pitchFamily="2" charset="0"/>
                        <a:ea typeface="Tahoma" panose="020B0604030504040204" pitchFamily="34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oppins" panose="00000500000000000000" pitchFamily="2" charset="0"/>
                        <a:ea typeface="微软雅黑" panose="020B0503020204020204" pitchFamily="34" charset="-122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10971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0C0524-F9FB-C0BA-E816-0708C6017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479394"/>
              </p:ext>
            </p:extLst>
          </p:nvPr>
        </p:nvGraphicFramePr>
        <p:xfrm>
          <a:off x="93214" y="1742118"/>
          <a:ext cx="11986323" cy="1645920"/>
        </p:xfrm>
        <a:graphic>
          <a:graphicData uri="http://schemas.openxmlformats.org/drawingml/2006/table">
            <a:tbl>
              <a:tblPr firstRow="1" bandRow="1"/>
              <a:tblGrid>
                <a:gridCol w="2004257">
                  <a:extLst>
                    <a:ext uri="{9D8B030D-6E8A-4147-A177-3AD203B41FA5}">
                      <a16:colId xmlns:a16="http://schemas.microsoft.com/office/drawing/2014/main" val="2957788583"/>
                    </a:ext>
                  </a:extLst>
                </a:gridCol>
                <a:gridCol w="4015408">
                  <a:extLst>
                    <a:ext uri="{9D8B030D-6E8A-4147-A177-3AD203B41FA5}">
                      <a16:colId xmlns:a16="http://schemas.microsoft.com/office/drawing/2014/main" val="511853077"/>
                    </a:ext>
                  </a:extLst>
                </a:gridCol>
                <a:gridCol w="1876508">
                  <a:extLst>
                    <a:ext uri="{9D8B030D-6E8A-4147-A177-3AD203B41FA5}">
                      <a16:colId xmlns:a16="http://schemas.microsoft.com/office/drawing/2014/main" val="833481040"/>
                    </a:ext>
                  </a:extLst>
                </a:gridCol>
                <a:gridCol w="4090150">
                  <a:extLst>
                    <a:ext uri="{9D8B030D-6E8A-4147-A177-3AD203B41FA5}">
                      <a16:colId xmlns:a16="http://schemas.microsoft.com/office/drawing/2014/main" val="1874090492"/>
                    </a:ext>
                  </a:extLst>
                </a:gridCol>
              </a:tblGrid>
              <a:tr h="286119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altLang="zh-CN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Cost center and F</a:t>
                      </a:r>
                      <a:r>
                        <a:rPr lang="en-US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unction / Unit</a:t>
                      </a:r>
                    </a:p>
                    <a:p>
                      <a:r>
                        <a:rPr lang="en-US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th-TH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หน่วยงาน</a:t>
                      </a:r>
                      <a:r>
                        <a:rPr lang="en-US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9190610000 PROCUREMENT DEP.</a:t>
                      </a:r>
                      <a:endParaRPr lang="en-US" altLang="zh-CN" sz="90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Plan start and end date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kumimoji="0" lang="th-TH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วันที่คาดว่าเริ่มและสิ้นสุด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CN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FFF00"/>
                        </a:highligh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 2025 – Sep 2025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770380"/>
                  </a:ext>
                </a:extLst>
              </a:tr>
              <a:tr h="421962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Project Objectives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th-TH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จุดประสงค์ของโครงการ</a:t>
                      </a:r>
                      <a:r>
                        <a:rPr lang="en-US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revise the evaluation process to comprehensively cover ESG (Environment, Social, and Governance) requirements and align with Swire Coca-Cola standards, enabling the use of data for analysis to enhance the capabilities of both vendors and the procurement department.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improve the evaluation form to be complete and aligned with each Procurement Category group.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FFF00"/>
                        </a:highligh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FFF00"/>
                        </a:highligh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91224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altLang="zh-CN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Capability Focus Areas</a:t>
                      </a:r>
                    </a:p>
                    <a:p>
                      <a:r>
                        <a:rPr lang="en-US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th-TH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ขอบเขตของโครงการ</a:t>
                      </a:r>
                      <a:r>
                        <a:rPr lang="en-US" sz="9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Questionnaire in Microsoft Form format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Revise the information in 7 existing evaluation forms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Add 5 new evaluation forms and cancel 1 evaluation form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FFF00"/>
                        </a:highligh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FFF00"/>
                        </a:highligh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20294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4A5838-EE4A-7B9C-707A-2383270BB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715035"/>
              </p:ext>
            </p:extLst>
          </p:nvPr>
        </p:nvGraphicFramePr>
        <p:xfrm>
          <a:off x="103598" y="3293951"/>
          <a:ext cx="11984804" cy="3431632"/>
        </p:xfrm>
        <a:graphic>
          <a:graphicData uri="http://schemas.openxmlformats.org/drawingml/2006/table">
            <a:tbl>
              <a:tblPr firstRow="1" bandRow="1"/>
              <a:tblGrid>
                <a:gridCol w="1422939">
                  <a:extLst>
                    <a:ext uri="{9D8B030D-6E8A-4147-A177-3AD203B41FA5}">
                      <a16:colId xmlns:a16="http://schemas.microsoft.com/office/drawing/2014/main" val="1649585675"/>
                    </a:ext>
                  </a:extLst>
                </a:gridCol>
                <a:gridCol w="2523122">
                  <a:extLst>
                    <a:ext uri="{9D8B030D-6E8A-4147-A177-3AD203B41FA5}">
                      <a16:colId xmlns:a16="http://schemas.microsoft.com/office/drawing/2014/main" val="757535286"/>
                    </a:ext>
                  </a:extLst>
                </a:gridCol>
                <a:gridCol w="2071741">
                  <a:extLst>
                    <a:ext uri="{9D8B030D-6E8A-4147-A177-3AD203B41FA5}">
                      <a16:colId xmlns:a16="http://schemas.microsoft.com/office/drawing/2014/main" val="2280893671"/>
                    </a:ext>
                  </a:extLst>
                </a:gridCol>
                <a:gridCol w="5967002">
                  <a:extLst>
                    <a:ext uri="{9D8B030D-6E8A-4147-A177-3AD203B41FA5}">
                      <a16:colId xmlns:a16="http://schemas.microsoft.com/office/drawing/2014/main" val="150875449"/>
                    </a:ext>
                  </a:extLst>
                </a:gridCol>
              </a:tblGrid>
              <a:tr h="0">
                <a:tc gridSpan="4"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Benefit Estimate  </a:t>
                      </a:r>
                      <a:r>
                        <a:rPr lang="en-US" altLang="zh-CN" sz="9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| </a:t>
                      </a: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Please select the type / types and listed</a:t>
                      </a:r>
                      <a:r>
                        <a:rPr lang="zh-CN" altLang="en-US" sz="9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9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the calculation )</a:t>
                      </a:r>
                      <a:endParaRPr lang="en-US" sz="900" b="1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30651"/>
                  </a:ext>
                </a:extLst>
              </a:tr>
              <a:tr h="670560">
                <a:tc rowSpan="3"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Direct Benefits (</a:t>
                      </a:r>
                      <a:r>
                        <a:rPr lang="th-TH" altLang="zh-CN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ประโยชน์ทางตรง)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Tangible / Intangible Benefits</a:t>
                      </a:r>
                    </a:p>
                    <a:p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th-TH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ผลประโยชน์ที่สามารถจับต้องได้ / ผลประโยชน์ที่ไม่สามารถจับต้องได้</a:t>
                      </a:r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th-TH" sz="900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ได้ผลการประเมิน </a:t>
                      </a:r>
                      <a:r>
                        <a:rPr lang="en-US" sz="900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Supplier </a:t>
                      </a:r>
                      <a:r>
                        <a:rPr lang="th-TH" sz="900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ที่ได้มาตรฐาน เชื่อถือได้ และเป็นระบบมากขึ้น</a:t>
                      </a:r>
                      <a:endParaRPr lang="en-US" sz="900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072" marR="94072" marT="47036" marB="470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algn="l"/>
                      <a:r>
                        <a:rPr lang="en-US" sz="900" b="0" i="0" u="none" strike="noStrike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</a:p>
                  </a:txBody>
                  <a:tcPr marL="94072" marR="94072" marT="47036" marB="470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altLang="ja-JP" sz="9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Please elaborate the logic in calculating the benefits, and starting in which year the benefit will occur (</a:t>
                      </a:r>
                      <a:r>
                        <a:rPr lang="th-TH" sz="900" b="1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กรุณา</a:t>
                      </a:r>
                      <a:r>
                        <a:rPr lang="th-TH" sz="9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อธิบายวิธีในการคำนวณผลประโยชน์ และเริ่มต้นในปีใดที่จะเกิดผลประโยชน์</a:t>
                      </a:r>
                      <a:r>
                        <a:rPr lang="en-US" sz="9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): </a:t>
                      </a:r>
                    </a:p>
                    <a:p>
                      <a:r>
                        <a:rPr lang="en-US" altLang="ja-JP" sz="9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  <a:p>
                      <a:endParaRPr 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304922"/>
                  </a:ext>
                </a:extLst>
              </a:tr>
              <a:tr h="6705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th-TH" sz="9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ลดระยะเวลาในการจัดทำรายงาน </a:t>
                      </a:r>
                    </a:p>
                  </a:txBody>
                  <a:tcPr marL="94072" marR="94072" marT="47036" marB="470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algn="l"/>
                      <a:r>
                        <a:rPr lang="en-US" sz="900" b="0" i="0" u="none" strike="noStrike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</a:p>
                  </a:txBody>
                  <a:tcPr marL="94072" marR="94072" marT="47036" marB="470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068917"/>
                  </a:ext>
                </a:extLst>
              </a:tr>
              <a:tr h="6705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th-TH" sz="9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รองรับการตรวจสอบจากหน่วยงาน 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Audit</a:t>
                      </a:r>
                    </a:p>
                  </a:txBody>
                  <a:tcPr marL="94072" marR="94072" marT="47036" marB="470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algn="l"/>
                      <a:r>
                        <a:rPr lang="en-US" sz="900" b="0" i="0" u="none" strike="noStrike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</a:p>
                  </a:txBody>
                  <a:tcPr marL="94072" marR="94072" marT="47036" marB="470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378967"/>
                  </a:ext>
                </a:extLst>
              </a:tr>
              <a:tr h="555582">
                <a:tc rowSpan="2"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u="none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Indirect Benefits (</a:t>
                      </a:r>
                      <a:r>
                        <a:rPr lang="th-TH" altLang="zh-CN" sz="900" b="0" u="none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ประโยชน์ทางอ้อม)</a:t>
                      </a:r>
                      <a:endParaRPr lang="en-US" sz="900" b="0" u="none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u="none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Tangible / Intangible Benefits</a:t>
                      </a:r>
                      <a:endParaRPr lang="th-TH" sz="900" b="0" i="0" u="none" strike="noStrike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th-TH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ผลประโยชน์ที่สามารถจับต้องได้ / ผลประโยชน์ที่ไม่สามารถจับต้องได้</a:t>
                      </a:r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</a:txBody>
                  <a:tcPr marL="94072" marR="94072" marT="47036" marB="4703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9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นำผลการประเมินไปจัดทำ 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Action plan </a:t>
                      </a:r>
                      <a:r>
                        <a:rPr lang="th-TH" sz="9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เพื่อพัฒนา 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Supplier</a:t>
                      </a:r>
                    </a:p>
                  </a:txBody>
                  <a:tcPr marL="94072" marR="94072" marT="47036" marB="470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94072" marR="94072" marT="47036" marB="470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marR="0" lvl="0" indent="-171450" algn="l" defTabSz="914377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20684"/>
                  </a:ext>
                </a:extLst>
              </a:tr>
              <a:tr h="5555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90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9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การเพิ่มประสิทธิภาพในการดำเนินงาน</a:t>
                      </a:r>
                      <a:endParaRPr lang="en-US" sz="90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endParaRPr lang="en-US" sz="9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072" marR="94072" marT="47036" marB="4703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4072" marR="94072" marT="47036" marB="470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572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29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8D87-8BC6-BE24-28BE-AD9CD9C16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277B8A-3528-F7AD-D8C0-7DFC20CE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-3477"/>
            <a:ext cx="11033760" cy="82296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oppins"/>
                <a:ea typeface="Microsoft YaHei"/>
                <a:cs typeface="+mn-cs"/>
              </a:rPr>
              <a:t>2025 Project Approval – Gate 0 / Gate 1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oppins"/>
                <a:ea typeface="Microsoft YaHei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Investment Summary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oppins"/>
              <a:ea typeface="Microsoft YaHei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1C4AF6-97BF-6E7E-0ECB-3507F6376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462009"/>
              </p:ext>
            </p:extLst>
          </p:nvPr>
        </p:nvGraphicFramePr>
        <p:xfrm>
          <a:off x="0" y="988828"/>
          <a:ext cx="12192000" cy="5363259"/>
        </p:xfrm>
        <a:graphic>
          <a:graphicData uri="http://schemas.openxmlformats.org/drawingml/2006/table">
            <a:tbl>
              <a:tblPr firstRow="1" bandRow="1"/>
              <a:tblGrid>
                <a:gridCol w="1373747">
                  <a:extLst>
                    <a:ext uri="{9D8B030D-6E8A-4147-A177-3AD203B41FA5}">
                      <a16:colId xmlns:a16="http://schemas.microsoft.com/office/drawing/2014/main" val="3224062398"/>
                    </a:ext>
                  </a:extLst>
                </a:gridCol>
                <a:gridCol w="7769397">
                  <a:extLst>
                    <a:ext uri="{9D8B030D-6E8A-4147-A177-3AD203B41FA5}">
                      <a16:colId xmlns:a16="http://schemas.microsoft.com/office/drawing/2014/main" val="3773933071"/>
                    </a:ext>
                  </a:extLst>
                </a:gridCol>
                <a:gridCol w="3048856">
                  <a:extLst>
                    <a:ext uri="{9D8B030D-6E8A-4147-A177-3AD203B41FA5}">
                      <a16:colId xmlns:a16="http://schemas.microsoft.com/office/drawing/2014/main" val="1129958568"/>
                    </a:ext>
                  </a:extLst>
                </a:gridCol>
              </a:tblGrid>
              <a:tr h="248851">
                <a:tc gridSpan="3"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Investment Estimate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06272"/>
                  </a:ext>
                </a:extLst>
              </a:tr>
              <a:tr h="378461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algn="l"/>
                      <a:r>
                        <a:rPr 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Cost 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algn="ctr"/>
                      <a:r>
                        <a:rPr lang="en-US" sz="105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Please indicate whether this is a cross-years investment, including the cost in which year and its nature, such as Licenses, Subscriptions, Services. Maintenances,  Cloud Hosting etc.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393933"/>
                  </a:ext>
                </a:extLst>
              </a:tr>
              <a:tr h="1073170">
                <a:tc rowSpan="2"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CAPEX / OPEX 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(Cost Center : </a:t>
                      </a: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9190610000 PROCUREMENT DEP.</a:t>
                      </a:r>
                      <a:r>
                        <a:rPr lang="en-US" altLang="ja-JP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CAPEX 2025: 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5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OPEX 2025: 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5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(Under Business Cost Center):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72845"/>
                  </a:ext>
                </a:extLst>
              </a:tr>
              <a:tr h="1399787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(Cost Center : </a:t>
                      </a:r>
                      <a:r>
                        <a:rPr lang="en-US" altLang="ja-JP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9190410005 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–</a:t>
                      </a:r>
                      <a:r>
                        <a:rPr lang="en-US" altLang="ja-JP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Digital &amp; IT </a:t>
                      </a:r>
                      <a:r>
                        <a:rPr lang="en-US" altLang="ja-JP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 </a:t>
                      </a:r>
                      <a:endParaRPr lang="en-US" altLang="zh-TW" sz="105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CAPEX 2025: 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en-US" sz="105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05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OPEX 2025: -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zh-TW" sz="105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(under </a:t>
                      </a:r>
                      <a:r>
                        <a:rPr lang="en-US" altLang="ja-JP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 &amp; IT):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2025: </a:t>
                      </a:r>
                      <a:r>
                        <a:rPr lang="en-US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8497"/>
                  </a:ext>
                </a:extLst>
              </a:tr>
              <a:tr h="909862">
                <a:tc rowSpan="2"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Running Cost (Annual BAU)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Annual BAU (OPEX): </a:t>
                      </a:r>
                      <a:r>
                        <a:rPr lang="en-US" altLang="ja-JP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(Cost Center : </a:t>
                      </a: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9190610000 PROCUREMENT DEP.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altLang="ja-JP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en-US" altLang="ja-JP" sz="105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(Under Business Cost Center)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OPEX (Yearly)</a:t>
                      </a:r>
                      <a:r>
                        <a:rPr lang="en-US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2025: </a:t>
                      </a:r>
                      <a:r>
                        <a:rPr lang="en-US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THB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159068"/>
                  </a:ext>
                </a:extLst>
              </a:tr>
              <a:tr h="1353128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Annual BAU (OPEX): </a:t>
                      </a:r>
                      <a:r>
                        <a:rPr lang="en-US" altLang="ja-JP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(Cost Center </a:t>
                      </a:r>
                      <a:r>
                        <a:rPr lang="en-US" altLang="ja-JP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9190410005 – Digital &amp; IT </a:t>
                      </a:r>
                      <a:r>
                        <a:rPr lang="en-US" altLang="ja-JP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en-US" altLang="ja-JP" sz="105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CN" sz="1000" b="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(Under </a:t>
                      </a:r>
                      <a:r>
                        <a:rPr lang="en-US" altLang="ja-JP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 &amp; IT)</a:t>
                      </a:r>
                      <a:endParaRPr lang="en-US" altLang="zh-TW" sz="105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OPEX (Yearly)</a:t>
                      </a:r>
                      <a:r>
                        <a:rPr lang="en-US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altLang="zh-TW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 </a:t>
                      </a:r>
                      <a:r>
                        <a:rPr lang="en-US" sz="1050" b="1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5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840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705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3FBAF-0391-FE89-E4C4-1C4E5590F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B77EA7-4E4E-A82C-FF03-70E12B917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947" y="79323"/>
            <a:ext cx="4583993" cy="82296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oppins"/>
                <a:ea typeface="Microsoft YaHei"/>
                <a:cs typeface="+mn-cs"/>
              </a:rPr>
              <a:t>2025 Project Approval – Gate 0 / Gate 1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oppins"/>
                <a:ea typeface="Microsoft YaHei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Investment Details – </a:t>
            </a:r>
            <a:r>
              <a:rPr lang="en-US" sz="16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[Insert Project Name]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oppins"/>
              <a:ea typeface="Microsoft YaHei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F725F-F98D-2557-E4F1-52FB5848F533}"/>
              </a:ext>
            </a:extLst>
          </p:cNvPr>
          <p:cNvSpPr txBox="1"/>
          <p:nvPr/>
        </p:nvSpPr>
        <p:spPr>
          <a:xfrm>
            <a:off x="5452940" y="-12593"/>
            <a:ext cx="6739060" cy="769441"/>
          </a:xfrm>
          <a:prstGeom prst="rect">
            <a:avLst/>
          </a:prstGeom>
          <a:solidFill>
            <a:srgbClr val="A5A5A5">
              <a:lumMod val="20000"/>
              <a:lumOff val="80000"/>
            </a:srgbClr>
          </a:solidFill>
          <a:ln>
            <a:solidFill>
              <a:sysClr val="window" lastClr="FFFFFF">
                <a:lumMod val="65000"/>
              </a:sysClr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icrosoft YaHei"/>
              </a:rPr>
              <a:t>Calculation Base:  Total cost for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icrosoft YaHei"/>
              </a:rPr>
              <a:t>Implementation and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icrosoft YaHei"/>
              </a:rPr>
              <a:t>Five years BAU after go live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Microsoft YaHei"/>
              </a:rPr>
              <a:t>Please state the cost breakdown estimation / ROI by market and year incur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2BD0A9-5E51-6416-5027-7ECE0B997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102069"/>
              </p:ext>
            </p:extLst>
          </p:nvPr>
        </p:nvGraphicFramePr>
        <p:xfrm>
          <a:off x="0" y="828599"/>
          <a:ext cx="12192000" cy="4749949"/>
        </p:xfrm>
        <a:graphic>
          <a:graphicData uri="http://schemas.openxmlformats.org/drawingml/2006/table">
            <a:tbl>
              <a:tblPr firstRow="1" bandRow="1"/>
              <a:tblGrid>
                <a:gridCol w="1808784">
                  <a:extLst>
                    <a:ext uri="{9D8B030D-6E8A-4147-A177-3AD203B41FA5}">
                      <a16:colId xmlns:a16="http://schemas.microsoft.com/office/drawing/2014/main" val="1519621745"/>
                    </a:ext>
                  </a:extLst>
                </a:gridCol>
                <a:gridCol w="1111620">
                  <a:extLst>
                    <a:ext uri="{9D8B030D-6E8A-4147-A177-3AD203B41FA5}">
                      <a16:colId xmlns:a16="http://schemas.microsoft.com/office/drawing/2014/main" val="547262666"/>
                    </a:ext>
                  </a:extLst>
                </a:gridCol>
                <a:gridCol w="1111620">
                  <a:extLst>
                    <a:ext uri="{9D8B030D-6E8A-4147-A177-3AD203B41FA5}">
                      <a16:colId xmlns:a16="http://schemas.microsoft.com/office/drawing/2014/main" val="3172816193"/>
                    </a:ext>
                  </a:extLst>
                </a:gridCol>
                <a:gridCol w="1805007">
                  <a:extLst>
                    <a:ext uri="{9D8B030D-6E8A-4147-A177-3AD203B41FA5}">
                      <a16:colId xmlns:a16="http://schemas.microsoft.com/office/drawing/2014/main" val="3988878216"/>
                    </a:ext>
                  </a:extLst>
                </a:gridCol>
                <a:gridCol w="1059604">
                  <a:extLst>
                    <a:ext uri="{9D8B030D-6E8A-4147-A177-3AD203B41FA5}">
                      <a16:colId xmlns:a16="http://schemas.microsoft.com/office/drawing/2014/main" val="3444273713"/>
                    </a:ext>
                  </a:extLst>
                </a:gridCol>
                <a:gridCol w="1160630">
                  <a:extLst>
                    <a:ext uri="{9D8B030D-6E8A-4147-A177-3AD203B41FA5}">
                      <a16:colId xmlns:a16="http://schemas.microsoft.com/office/drawing/2014/main" val="188080438"/>
                    </a:ext>
                  </a:extLst>
                </a:gridCol>
                <a:gridCol w="1069944">
                  <a:extLst>
                    <a:ext uri="{9D8B030D-6E8A-4147-A177-3AD203B41FA5}">
                      <a16:colId xmlns:a16="http://schemas.microsoft.com/office/drawing/2014/main" val="1499129554"/>
                    </a:ext>
                  </a:extLst>
                </a:gridCol>
                <a:gridCol w="990551">
                  <a:extLst>
                    <a:ext uri="{9D8B030D-6E8A-4147-A177-3AD203B41FA5}">
                      <a16:colId xmlns:a16="http://schemas.microsoft.com/office/drawing/2014/main" val="3886279209"/>
                    </a:ext>
                  </a:extLst>
                </a:gridCol>
                <a:gridCol w="1001559">
                  <a:extLst>
                    <a:ext uri="{9D8B030D-6E8A-4147-A177-3AD203B41FA5}">
                      <a16:colId xmlns:a16="http://schemas.microsoft.com/office/drawing/2014/main" val="2879656671"/>
                    </a:ext>
                  </a:extLst>
                </a:gridCol>
                <a:gridCol w="1072681">
                  <a:extLst>
                    <a:ext uri="{9D8B030D-6E8A-4147-A177-3AD203B41FA5}">
                      <a16:colId xmlns:a16="http://schemas.microsoft.com/office/drawing/2014/main" val="2706324563"/>
                    </a:ext>
                  </a:extLst>
                </a:gridCol>
              </a:tblGrid>
              <a:tr h="371899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Cost Components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One off / Annual Cost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Budget /Currency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Calculation Logic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2025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2026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2027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2028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2029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b="1" kern="1200">
                          <a:solidFill>
                            <a:schemeClr val="lt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2030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60965"/>
                  </a:ext>
                </a:extLst>
              </a:tr>
              <a:tr h="248868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ahoma" panose="020B0604030504040204" pitchFamily="34" charset="0"/>
                          <a:cs typeface="Poppins" panose="00000500000000000000" pitchFamily="2" charset="0"/>
                        </a:rPr>
                        <a:t>Variable Cost (</a:t>
                      </a:r>
                      <a:r>
                        <a:rPr lang="th-TH" sz="900" b="1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ต้นทุนผันแปร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ahoma" panose="020B0604030504040204" pitchFamily="34" charset="0"/>
                          <a:cs typeface="Poppins" panose="00000500000000000000" pitchFamily="2" charset="0"/>
                        </a:rPr>
                        <a:t>)</a:t>
                      </a:r>
                    </a:p>
                    <a:p>
                      <a:r>
                        <a:rPr lang="en-US" sz="900" b="1" kern="120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ahoma" panose="020B0604030504040204" pitchFamily="34" charset="0"/>
                          <a:cs typeface="Poppins" panose="00000500000000000000" pitchFamily="2" charset="0"/>
                        </a:rPr>
                        <a:t>OPEX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endParaRPr lang="en-US" sz="9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  <a:p>
                      <a:endParaRPr lang="en-US" sz="9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  <a:p>
                      <a:endParaRPr lang="en-US" sz="9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033628"/>
                  </a:ext>
                </a:extLst>
              </a:tr>
              <a:tr h="321733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One-off Software License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One-Off Capex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  <a:p>
                      <a:endParaRPr lang="en-US" sz="9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811470"/>
                  </a:ext>
                </a:extLst>
              </a:tr>
              <a:tr h="15043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Subscriptions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Annual </a:t>
                      </a:r>
                      <a:r>
                        <a:rPr lang="en-US" sz="900" dirty="0" err="1"/>
                        <a:t>Opex</a:t>
                      </a:r>
                      <a:endParaRPr lang="en-US" sz="9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000825"/>
                  </a:ext>
                </a:extLst>
              </a:tr>
              <a:tr h="211667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Software Maintenance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Annual </a:t>
                      </a:r>
                      <a:r>
                        <a:rPr lang="en-US" sz="900" dirty="0" err="1"/>
                        <a:t>Opex</a:t>
                      </a:r>
                      <a:endParaRPr lang="en-US" sz="9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703215"/>
                  </a:ext>
                </a:extLst>
              </a:tr>
              <a:tr h="511362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900" baseline="30000" dirty="0">
                          <a:solidFill>
                            <a:schemeClr val="tx1"/>
                          </a:solidFill>
                        </a:rPr>
                        <a:t>rd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party Consulting services / Contractor Fees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One-Off Capex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  <a:p>
                      <a:endParaRPr lang="en-US" sz="9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  <a:p>
                      <a:endParaRPr lang="en-US" sz="9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-</a:t>
                      </a:r>
                    </a:p>
                    <a:p>
                      <a:endParaRPr lang="en-US" sz="9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054604"/>
                  </a:ext>
                </a:extLst>
              </a:tr>
              <a:tr h="182905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Hardware / Devices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One-Off Capex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221268"/>
                  </a:ext>
                </a:extLst>
              </a:tr>
              <a:tr h="242171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Security related services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/>
                        <a:t>Annual </a:t>
                      </a:r>
                      <a:r>
                        <a:rPr lang="en-US" sz="900" dirty="0" err="1"/>
                        <a:t>Opex</a:t>
                      </a:r>
                      <a:endParaRPr lang="en-US" sz="9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600728"/>
                  </a:ext>
                </a:extLst>
              </a:tr>
              <a:tr h="511362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Others (please specify)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Travel &amp; Accommodation for workshop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One-Off </a:t>
                      </a:r>
                      <a:r>
                        <a:rPr lang="en-US" sz="900" dirty="0" err="1"/>
                        <a:t>Opex</a:t>
                      </a:r>
                      <a:endParaRPr lang="en-US" sz="9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  <a:p>
                      <a:endParaRPr lang="en-US" sz="9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  <a:p>
                      <a:endParaRPr lang="en-US" sz="9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838905"/>
                  </a:ext>
                </a:extLst>
              </a:tr>
              <a:tr h="35363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Fixed Cost (</a:t>
                      </a:r>
                      <a:r>
                        <a:rPr lang="th-TH" sz="900" b="1" kern="120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ต้นทุนคงที่</a:t>
                      </a:r>
                      <a:r>
                        <a:rPr lang="en-US" sz="900" b="1" kern="120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ahoma" panose="020B0604030504040204" pitchFamily="34" charset="0"/>
                          <a:cs typeface="Poppins" panose="00000500000000000000" pitchFamily="2" charset="0"/>
                        </a:rPr>
                        <a:t>)</a:t>
                      </a:r>
                      <a:endParaRPr lang="th-TH" sz="900" b="1" kern="1200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CAPEX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endParaRPr lang="en-US" sz="9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 gridSpan="8"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algn="ctr"/>
                      <a:r>
                        <a:rPr lang="en-US" sz="900" b="1" i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Based on allocation rule for fixed cost allocation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297483"/>
                  </a:ext>
                </a:extLst>
              </a:tr>
              <a:tr h="371899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Foundation Development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One-Off Capex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094278"/>
                  </a:ext>
                </a:extLst>
              </a:tr>
              <a:tr h="375946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Cloud Hosting / Infrastructure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Annual </a:t>
                      </a:r>
                      <a:r>
                        <a:rPr lang="en-US" sz="900" dirty="0" err="1"/>
                        <a:t>Opex</a:t>
                      </a:r>
                      <a:endParaRPr lang="en-US" sz="9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87669"/>
                  </a:ext>
                </a:extLst>
              </a:tr>
              <a:tr h="228477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/>
                        <a:t>Others (please specify)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endParaRPr lang="en-US" sz="9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746440"/>
                  </a:ext>
                </a:extLst>
              </a:tr>
              <a:tr h="35363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indent="0" algn="r">
                        <a:buFont typeface="Arial" panose="020B0604020202020204" pitchFamily="34" charset="0"/>
                        <a:buNone/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endParaRPr lang="en-US" sz="900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1pPr>
                      <a:lvl2pPr marL="45718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2pPr>
                      <a:lvl3pPr marL="914377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3pPr>
                      <a:lvl4pPr marL="1371566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4pPr>
                      <a:lvl5pPr marL="1828754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5pPr>
                      <a:lvl6pPr marL="2285943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6pPr>
                      <a:lvl7pPr marL="2743131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7pPr>
                      <a:lvl8pPr marL="3200320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8pPr>
                      <a:lvl9pPr marL="3657509" algn="l" defTabSz="914377" rtl="0" eaLnBrk="1" latinLnBrk="0" hangingPunct="1">
                        <a:defRPr sz="2800" kern="1200">
                          <a:solidFill>
                            <a:schemeClr val="dk1"/>
                          </a:solidFill>
                          <a:latin typeface="Poppins"/>
                          <a:ea typeface="Microsoft YaHei"/>
                        </a:defRPr>
                      </a:lvl9pPr>
                    </a:lstStyle>
                    <a:p>
                      <a:r>
                        <a:rPr lang="en-US" sz="900" b="1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2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969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59F2D243-8885-244E-B752-1604795591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04"/>
          <a:stretch/>
        </p:blipFill>
        <p:spPr>
          <a:xfrm>
            <a:off x="0" y="3234690"/>
            <a:ext cx="12192000" cy="362331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BCD916E-C552-65BD-A3A7-075EA36ED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275" b="70612"/>
          <a:stretch/>
        </p:blipFill>
        <p:spPr>
          <a:xfrm>
            <a:off x="0" y="0"/>
            <a:ext cx="2286000" cy="202311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FE5A5C-7CB6-D541-6A3B-A2A77313E4BC}"/>
              </a:ext>
            </a:extLst>
          </p:cNvPr>
          <p:cNvSpPr txBox="1"/>
          <p:nvPr/>
        </p:nvSpPr>
        <p:spPr>
          <a:xfrm>
            <a:off x="4447952" y="3017520"/>
            <a:ext cx="3296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End of document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540244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L0OB7BqKLPzBDt1JfSB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ymP8L_v03IrwtvKQB8d7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3PiZI2BTDGl_enZenXbb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oEB66B.2O0A8GYE1sJot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OISnHjYEcKTaNzur975g"/>
</p:tagLst>
</file>

<file path=ppt/theme/theme1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00B050"/>
          </a:solidFill>
        </a:ln>
        <a:scene3d>
          <a:camera prst="orthographicFront"/>
          <a:lightRig rig="threePt" dir="t"/>
        </a:scene3d>
        <a:sp3d>
          <a:bevelT w="165100" prst="coolSlant"/>
        </a:sp3d>
      </a:spPr>
      <a:bodyPr wrap="none" tIns="0" bIns="0"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00" b="1" i="0" u="none" strike="noStrike" kern="1200" cap="none" spc="0" normalizeH="0" baseline="0" noProof="0" dirty="0">
            <a:ln>
              <a:noFill/>
            </a:ln>
            <a:solidFill>
              <a:prstClr val="white"/>
            </a:solidFill>
            <a:effectLst/>
            <a:uLnTx/>
            <a:uFillTx/>
            <a:latin typeface="Arial" panose="020B0604020202020204" pitchFamily="34" charset="0"/>
            <a:ea typeface="+mn-ea"/>
            <a:cs typeface="Tahom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solidFill>
          <a:srgbClr val="B9B9B9"/>
        </a:solidFill>
        <a:ln w="9525" cap="flat" cmpd="sng" algn="ctr">
          <a:solidFill>
            <a:srgbClr val="FFFFFF">
              <a:lumMod val="75000"/>
            </a:srgb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algn="l">
          <a:defRPr>
            <a:solidFill>
              <a:schemeClr val="tx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BC61598BA514428854AB93249F4392" ma:contentTypeVersion="11" ma:contentTypeDescription="Create a new document." ma:contentTypeScope="" ma:versionID="151ebea6aeff9f672d1d65993be79861">
  <xsd:schema xmlns:xsd="http://www.w3.org/2001/XMLSchema" xmlns:xs="http://www.w3.org/2001/XMLSchema" xmlns:p="http://schemas.microsoft.com/office/2006/metadata/properties" xmlns:ns3="895b540c-c597-4fca-b6b5-a5b8aa9ce818" targetNamespace="http://schemas.microsoft.com/office/2006/metadata/properties" ma:root="true" ma:fieldsID="4e75084b94dc0fcccbbed2cfb7853144" ns3:_="">
    <xsd:import namespace="895b540c-c597-4fca-b6b5-a5b8aa9ce81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5b540c-c597-4fca-b6b5-a5b8aa9ce81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95b540c-c597-4fca-b6b5-a5b8aa9ce818" xsi:nil="true"/>
  </documentManagement>
</p:properties>
</file>

<file path=customXml/itemProps1.xml><?xml version="1.0" encoding="utf-8"?>
<ds:datastoreItem xmlns:ds="http://schemas.openxmlformats.org/officeDocument/2006/customXml" ds:itemID="{30FC4E75-9048-4095-9BA0-2783AE5456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2C97D8-AB73-4C6F-BAA5-E1DEBD1D1A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5b540c-c597-4fca-b6b5-a5b8aa9ce8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719A4-2721-4ED9-ADC5-8BB5F8C5AAED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95b540c-c597-4fca-b6b5-a5b8aa9ce81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1414</TotalTime>
  <Words>777</Words>
  <Application>Microsoft Office PowerPoint</Application>
  <PresentationFormat>Widescreen</PresentationFormat>
  <Paragraphs>218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微软雅黑</vt:lpstr>
      <vt:lpstr>Aptos</vt:lpstr>
      <vt:lpstr>Arial</vt:lpstr>
      <vt:lpstr>Calibri</vt:lpstr>
      <vt:lpstr>Poppins</vt:lpstr>
      <vt:lpstr>Tahoma</vt:lpstr>
      <vt:lpstr>11_Office Theme</vt:lpstr>
      <vt:lpstr>think-cell Slide</vt:lpstr>
      <vt:lpstr>PowerPoint Presentation</vt:lpstr>
      <vt:lpstr>2025 Project Approval – Gate 0 / Gate 1</vt:lpstr>
      <vt:lpstr>2025 Project Approval – Gate 0 / Gate 1 Investment Summary</vt:lpstr>
      <vt:lpstr>2025 Project Approval – Gate 0 / Gate 1 Investment Details – [Insert Project Name]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Apinya Lertprakit</dc:creator>
  <cp:lastModifiedBy>Sutripat Ngamjittrong</cp:lastModifiedBy>
  <cp:revision>19</cp:revision>
  <dcterms:created xsi:type="dcterms:W3CDTF">2024-08-30T17:26:19Z</dcterms:created>
  <dcterms:modified xsi:type="dcterms:W3CDTF">2025-04-30T06:06:23Z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e5379f-c752-40b7-8c8a-de32cef4862d_Enabled">
    <vt:lpwstr>true</vt:lpwstr>
  </property>
  <property fmtid="{D5CDD505-2E9C-101B-9397-08002B2CF9AE}" pid="3" name="MSIP_Label_e3e5379f-c752-40b7-8c8a-de32cef4862d_SetDate">
    <vt:lpwstr>2024-08-31T06:19:48Z</vt:lpwstr>
  </property>
  <property fmtid="{D5CDD505-2E9C-101B-9397-08002B2CF9AE}" pid="4" name="MSIP_Label_e3e5379f-c752-40b7-8c8a-de32cef4862d_Method">
    <vt:lpwstr>Privileged</vt:lpwstr>
  </property>
  <property fmtid="{D5CDD505-2E9C-101B-9397-08002B2CF9AE}" pid="5" name="MSIP_Label_e3e5379f-c752-40b7-8c8a-de32cef4862d_Name">
    <vt:lpwstr>Internal Use (ภายในบริษัท)</vt:lpwstr>
  </property>
  <property fmtid="{D5CDD505-2E9C-101B-9397-08002B2CF9AE}" pid="6" name="MSIP_Label_e3e5379f-c752-40b7-8c8a-de32cef4862d_SiteId">
    <vt:lpwstr>50243939-22a9-47e3-918e-86b746997bec</vt:lpwstr>
  </property>
  <property fmtid="{D5CDD505-2E9C-101B-9397-08002B2CF9AE}" pid="7" name="MSIP_Label_e3e5379f-c752-40b7-8c8a-de32cef4862d_ActionId">
    <vt:lpwstr>e66a60b5-7ffa-491a-9efd-c700946157c4</vt:lpwstr>
  </property>
  <property fmtid="{D5CDD505-2E9C-101B-9397-08002B2CF9AE}" pid="8" name="MSIP_Label_e3e5379f-c752-40b7-8c8a-de32cef4862d_ContentBits">
    <vt:lpwstr>2</vt:lpwstr>
  </property>
  <property fmtid="{D5CDD505-2E9C-101B-9397-08002B2CF9AE}" pid="9" name="ClassificationContentMarkingFooterLocations">
    <vt:lpwstr>11_Office Theme:8\1_Office Theme:10</vt:lpwstr>
  </property>
  <property fmtid="{D5CDD505-2E9C-101B-9397-08002B2CF9AE}" pid="10" name="ClassificationContentMarkingFooterText">
    <vt:lpwstr>Classified - Internal Use</vt:lpwstr>
  </property>
  <property fmtid="{D5CDD505-2E9C-101B-9397-08002B2CF9AE}" pid="11" name="ContentTypeId">
    <vt:lpwstr>0x01010064BC61598BA514428854AB93249F4392</vt:lpwstr>
  </property>
</Properties>
</file>